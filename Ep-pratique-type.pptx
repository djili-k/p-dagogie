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6.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65" r:id="rId3"/>
    <p:sldId id="267" r:id="rId4"/>
    <p:sldId id="259" r:id="rId5"/>
    <p:sldId id="268" r:id="rId6"/>
    <p:sldId id="269" r:id="rId7"/>
    <p:sldId id="270" r:id="rId8"/>
    <p:sldId id="263" r:id="rId9"/>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616DA210-FB5B-4158-B5E0-FEB733F419BA}" styleName="Style clair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Style léger 3 - Accentuation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Style léger 1 - Accentuation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9C7853C-536D-4A76-A0AE-DD22124D55A5}" styleName="Style à thème 1 - Accentuation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74014" autoAdjust="0"/>
  </p:normalViewPr>
  <p:slideViewPr>
    <p:cSldViewPr>
      <p:cViewPr>
        <p:scale>
          <a:sx n="50" d="100"/>
          <a:sy n="50" d="100"/>
        </p:scale>
        <p:origin x="-1002" y="-7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CA4789D-F093-453C-9BC8-812E90CB280D}" type="datetimeFigureOut">
              <a:rPr lang="fr-FR" smtClean="0"/>
              <a:pPr/>
              <a:t>08/06/2026</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3C6EEAB-06E7-4DC3-B730-028DE1A030F7}" type="slidenum">
              <a:rPr lang="fr-FR" smtClean="0"/>
              <a:pPr/>
              <a:t>‹N°›</a:t>
            </a:fld>
            <a:endParaRPr lang="fr-F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fr-FR" dirty="0" smtClean="0"/>
              <a:t>-La séquence s'adresse à des élèves de Terminale générale suivant l'enseignement de spécialité Sciences de l'Ingénieur.</a:t>
            </a:r>
          </a:p>
          <a:p>
            <a:r>
              <a:rPr lang="fr-FR" dirty="0" smtClean="0"/>
              <a:t>-La séquence s'inscrit dans le thème de la modélisation des systèmes et vise à développer chez les élèves la capacité à modéliser une chaîne électromécanique.</a:t>
            </a:r>
          </a:p>
          <a:p>
            <a:r>
              <a:rPr lang="fr-FR" dirty="0" smtClean="0"/>
              <a:t>-Cette séquence intervient après une phase d'analyse fonctionnelle des systèmes et avant une séquence consacrée à la validation des performances.</a:t>
            </a:r>
          </a:p>
          <a:p>
            <a:endParaRPr lang="fr-FR" dirty="0" smtClean="0"/>
          </a:p>
          <a:p>
            <a:r>
              <a:rPr lang="fr-FR" dirty="0" smtClean="0"/>
              <a:t>-Tous les groupes poursuivent le même objectif pédagogique :</a:t>
            </a:r>
          </a:p>
          <a:p>
            <a:r>
              <a:rPr lang="fr-FR" dirty="0" smtClean="0"/>
              <a:t>Identifier les grandeurs d'entrée et de sortie d'un système asservi et associer un modèle au comportement observé.</a:t>
            </a:r>
          </a:p>
          <a:p>
            <a:endParaRPr lang="fr-FR" dirty="0" smtClean="0"/>
          </a:p>
          <a:p>
            <a:endParaRPr lang="fr-FR" dirty="0" smtClean="0"/>
          </a:p>
          <a:p>
            <a:r>
              <a:rPr lang="fr-FR" dirty="0" smtClean="0"/>
              <a:t>Cette activité s'inscrit dans une séquence visant à répondre à la problématique technique proposée.</a:t>
            </a:r>
          </a:p>
          <a:p>
            <a:endParaRPr lang="fr-FR" dirty="0" smtClean="0"/>
          </a:p>
          <a:p>
            <a:r>
              <a:rPr lang="fr-FR" dirty="0" smtClean="0"/>
              <a:t>Les activités réalisées durant la phase expérimentale m'ont permis d'identifier les paramètres significatifs du système. La séance proposée aux élèves réinvestit ces résultats dans une nouvelle situation d'apprentissage afin de répondre à la problématique technique retenue.</a:t>
            </a:r>
            <a:endParaRPr lang="fr-FR" dirty="0"/>
          </a:p>
        </p:txBody>
      </p:sp>
      <p:sp>
        <p:nvSpPr>
          <p:cNvPr id="4" name="Espace réservé du numéro de diapositive 3"/>
          <p:cNvSpPr>
            <a:spLocks noGrp="1"/>
          </p:cNvSpPr>
          <p:nvPr>
            <p:ph type="sldNum" sz="quarter" idx="10"/>
          </p:nvPr>
        </p:nvSpPr>
        <p:spPr/>
        <p:txBody>
          <a:bodyPr/>
          <a:lstStyle/>
          <a:p>
            <a:fld id="{63C6EEAB-06E7-4DC3-B730-028DE1A030F7}" type="slidenum">
              <a:rPr lang="fr-FR" smtClean="0"/>
              <a:pPr/>
              <a:t>1</a:t>
            </a:fld>
            <a:endParaRPr lang="fr-F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fr-FR" dirty="0" smtClean="0"/>
              <a:t>-La séquence s'adresse à des élèves de Terminale générale suivant l'enseignement de spécialité Sciences de l'Ingénieur.</a:t>
            </a:r>
          </a:p>
          <a:p>
            <a:r>
              <a:rPr lang="fr-FR" dirty="0" smtClean="0"/>
              <a:t>-La séquence s'inscrit dans le thème de la modélisation des systèmes et vise à développer chez les élèves la capacité à modéliser une chaîne électromécanique.</a:t>
            </a:r>
          </a:p>
          <a:p>
            <a:r>
              <a:rPr lang="fr-FR" dirty="0" smtClean="0"/>
              <a:t>-Cette séquence intervient après une phase d'analyse fonctionnelle des systèmes et avant une séquence consacrée à la validation des performances.</a:t>
            </a:r>
          </a:p>
          <a:p>
            <a:endParaRPr lang="fr-FR" dirty="0" smtClean="0"/>
          </a:p>
          <a:p>
            <a:endParaRPr lang="fr-FR" dirty="0" smtClean="0"/>
          </a:p>
          <a:p>
            <a:r>
              <a:rPr lang="fr-FR" dirty="0" smtClean="0"/>
              <a:t>Cette activité s'inscrit dans une séquence visant à répondre à la problématique technique proposée.</a:t>
            </a:r>
          </a:p>
          <a:p>
            <a:endParaRPr lang="fr-FR" dirty="0" smtClean="0"/>
          </a:p>
          <a:p>
            <a:r>
              <a:rPr lang="fr-FR" dirty="0" smtClean="0"/>
              <a:t>Les activités réalisées durant la phase expérimentale m'ont permis d'identifier les paramètres significatifs du système. La séance proposée aux élèves réinvestit ces résultats dans une nouvelle situation d'apprentissage afin de répondre à la problématique technique retenue.</a:t>
            </a:r>
            <a:endParaRPr lang="fr-FR" dirty="0"/>
          </a:p>
        </p:txBody>
      </p:sp>
      <p:sp>
        <p:nvSpPr>
          <p:cNvPr id="4" name="Espace réservé du numéro de diapositive 3"/>
          <p:cNvSpPr>
            <a:spLocks noGrp="1"/>
          </p:cNvSpPr>
          <p:nvPr>
            <p:ph type="sldNum" sz="quarter" idx="10"/>
          </p:nvPr>
        </p:nvSpPr>
        <p:spPr/>
        <p:txBody>
          <a:bodyPr/>
          <a:lstStyle/>
          <a:p>
            <a:fld id="{63C6EEAB-06E7-4DC3-B730-028DE1A030F7}" type="slidenum">
              <a:rPr lang="fr-FR" smtClean="0"/>
              <a:pPr/>
              <a:t>2</a:t>
            </a:fld>
            <a:endParaRPr lang="fr-F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fr-FR" dirty="0" smtClean="0"/>
              <a:t>La séance expérimentale proposée correspond à la séance 4</a:t>
            </a:r>
            <a:endParaRPr lang="fr-FR" dirty="0"/>
          </a:p>
        </p:txBody>
      </p:sp>
      <p:sp>
        <p:nvSpPr>
          <p:cNvPr id="4" name="Espace réservé du numéro de diapositive 3"/>
          <p:cNvSpPr>
            <a:spLocks noGrp="1"/>
          </p:cNvSpPr>
          <p:nvPr>
            <p:ph type="sldNum" sz="quarter" idx="10"/>
          </p:nvPr>
        </p:nvSpPr>
        <p:spPr/>
        <p:txBody>
          <a:bodyPr/>
          <a:lstStyle/>
          <a:p>
            <a:fld id="{63C6EEAB-06E7-4DC3-B730-028DE1A030F7}" type="slidenum">
              <a:rPr lang="fr-FR" smtClean="0"/>
              <a:pPr/>
              <a:t>3</a:t>
            </a:fld>
            <a:endParaRPr lang="fr-F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fr-FR" dirty="0" smtClean="0"/>
              <a:t>La séquence est organisée sur trois semaines. Les séances de cours permettent l'acquisition et l'institutionnalisation des connaissances. Les TD sont consacrés à l'appropriation des modèles et à l'évaluation des acquis. Les TP permettent la confrontation du modèle au système réel. La dernière séance est dédiée à la différenciation pédagogique à partir des résultats de l'évaluation sommative, avec des activités de consolidation, de </a:t>
            </a:r>
            <a:r>
              <a:rPr lang="fr-FR" dirty="0" err="1" smtClean="0"/>
              <a:t>remédiation</a:t>
            </a:r>
            <a:r>
              <a:rPr lang="fr-FR" dirty="0" smtClean="0"/>
              <a:t> ou d'approfondissement.</a:t>
            </a:r>
            <a:endParaRPr lang="fr-FR" dirty="0"/>
          </a:p>
        </p:txBody>
      </p:sp>
      <p:sp>
        <p:nvSpPr>
          <p:cNvPr id="4" name="Espace réservé du numéro de diapositive 3"/>
          <p:cNvSpPr>
            <a:spLocks noGrp="1"/>
          </p:cNvSpPr>
          <p:nvPr>
            <p:ph type="sldNum" sz="quarter" idx="10"/>
          </p:nvPr>
        </p:nvSpPr>
        <p:spPr/>
        <p:txBody>
          <a:bodyPr/>
          <a:lstStyle/>
          <a:p>
            <a:fld id="{63C6EEAB-06E7-4DC3-B730-028DE1A030F7}" type="slidenum">
              <a:rPr lang="fr-FR" smtClean="0"/>
              <a:pPr/>
              <a:t>4</a:t>
            </a:fld>
            <a:endParaRPr lang="fr-F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63C6EEAB-06E7-4DC3-B730-028DE1A030F7}" type="slidenum">
              <a:rPr lang="fr-FR" smtClean="0"/>
              <a:pPr/>
              <a:t>7</a:t>
            </a:fld>
            <a:endParaRPr lang="fr-F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dirty="0" smtClean="0"/>
              <a:t>•  présenter le contexte pédagogique imposé ; </a:t>
            </a:r>
          </a:p>
          <a:p>
            <a:endParaRPr lang="fr-FR" dirty="0"/>
          </a:p>
        </p:txBody>
      </p:sp>
      <p:sp>
        <p:nvSpPr>
          <p:cNvPr id="4" name="Espace réservé du numéro de diapositive 3"/>
          <p:cNvSpPr>
            <a:spLocks noGrp="1"/>
          </p:cNvSpPr>
          <p:nvPr>
            <p:ph type="sldNum" sz="quarter" idx="10"/>
          </p:nvPr>
        </p:nvSpPr>
        <p:spPr/>
        <p:txBody>
          <a:bodyPr/>
          <a:lstStyle/>
          <a:p>
            <a:fld id="{63C6EEAB-06E7-4DC3-B730-028DE1A030F7}" type="slidenum">
              <a:rPr lang="fr-FR" smtClean="0"/>
              <a:pPr/>
              <a:t>8</a:t>
            </a:fld>
            <a:endParaRPr lang="fr-F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smtClean="0"/>
              <a:t>Cliquez pour modifier le style du titre</a:t>
            </a:r>
            <a:endParaRPr lang="fr-F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Cliquez pour modifier le style des sous-titres du masque</a:t>
            </a:r>
            <a:endParaRPr lang="fr-FR"/>
          </a:p>
        </p:txBody>
      </p:sp>
      <p:sp>
        <p:nvSpPr>
          <p:cNvPr id="4" name="Espace réservé de la date 3"/>
          <p:cNvSpPr>
            <a:spLocks noGrp="1"/>
          </p:cNvSpPr>
          <p:nvPr>
            <p:ph type="dt" sz="half" idx="10"/>
          </p:nvPr>
        </p:nvSpPr>
        <p:spPr/>
        <p:txBody>
          <a:bodyPr/>
          <a:lstStyle/>
          <a:p>
            <a:fld id="{3C7BEEF8-18F5-4750-9311-DF00B58BD78D}" type="datetimeFigureOut">
              <a:rPr lang="fr-FR" smtClean="0"/>
              <a:pPr/>
              <a:t>08/06/2026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ED930643-5420-43F6-8A18-2E49ABE99872}" type="slidenum">
              <a:rPr lang="fr-FR" smtClean="0"/>
              <a:pP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3C7BEEF8-18F5-4750-9311-DF00B58BD78D}" type="datetimeFigureOut">
              <a:rPr lang="fr-FR" smtClean="0"/>
              <a:pPr/>
              <a:t>08/06/2026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ED930643-5420-43F6-8A18-2E49ABE99872}" type="slidenum">
              <a:rPr lang="fr-FR" smtClean="0"/>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smtClean="0"/>
              <a:t>Cliquez pour modifier le style du titre</a:t>
            </a:r>
            <a:endParaRPr lang="fr-F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Cliquez pour modifier les styles du texte du masque</a:t>
            </a:r>
          </a:p>
        </p:txBody>
      </p:sp>
      <p:sp>
        <p:nvSpPr>
          <p:cNvPr id="4" name="Espace réservé de la date 3"/>
          <p:cNvSpPr>
            <a:spLocks noGrp="1"/>
          </p:cNvSpPr>
          <p:nvPr>
            <p:ph type="dt" sz="half" idx="10"/>
          </p:nvPr>
        </p:nvSpPr>
        <p:spPr/>
        <p:txBody>
          <a:bodyPr/>
          <a:lstStyle/>
          <a:p>
            <a:fld id="{3C7BEEF8-18F5-4750-9311-DF00B58BD78D}" type="datetimeFigureOut">
              <a:rPr lang="fr-FR" smtClean="0"/>
              <a:pPr/>
              <a:t>08/06/2026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ED930643-5420-43F6-8A18-2E49ABE99872}" type="slidenum">
              <a:rPr lang="fr-FR" smtClean="0"/>
              <a:pPr/>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3C7BEEF8-18F5-4750-9311-DF00B58BD78D}" type="datetimeFigureOut">
              <a:rPr lang="fr-FR" smtClean="0"/>
              <a:pPr/>
              <a:t>08/06/2026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ED930643-5420-43F6-8A18-2E49ABE99872}" type="slidenum">
              <a:rPr lang="fr-FR" smtClean="0"/>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smtClean="0"/>
              <a:t>Cliquez pour modifier le style du titre</a:t>
            </a:r>
            <a:endParaRPr lang="fr-F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3C7BEEF8-18F5-4750-9311-DF00B58BD78D}" type="datetimeFigureOut">
              <a:rPr lang="fr-FR" smtClean="0"/>
              <a:pPr/>
              <a:t>08/06/2026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ED930643-5420-43F6-8A18-2E49ABE99872}" type="slidenum">
              <a:rPr lang="fr-FR" smtClean="0"/>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e la date 2"/>
          <p:cNvSpPr>
            <a:spLocks noGrp="1"/>
          </p:cNvSpPr>
          <p:nvPr>
            <p:ph type="dt" sz="half" idx="10"/>
          </p:nvPr>
        </p:nvSpPr>
        <p:spPr/>
        <p:txBody>
          <a:bodyPr/>
          <a:lstStyle/>
          <a:p>
            <a:fld id="{3C7BEEF8-18F5-4750-9311-DF00B58BD78D}" type="datetimeFigureOut">
              <a:rPr lang="fr-FR" smtClean="0"/>
              <a:pPr/>
              <a:t>08/06/2026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ED930643-5420-43F6-8A18-2E49ABE99872}"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3C7BEEF8-18F5-4750-9311-DF00B58BD78D}" type="datetimeFigureOut">
              <a:rPr lang="fr-FR" smtClean="0"/>
              <a:pPr/>
              <a:t>08/06/2026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ED930643-5420-43F6-8A18-2E49ABE99872}"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smtClean="0"/>
              <a:t>Cliquez pour modifier le style du titre</a:t>
            </a:r>
            <a:endParaRPr lang="fr-F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4"/>
          <p:cNvSpPr>
            <a:spLocks noGrp="1"/>
          </p:cNvSpPr>
          <p:nvPr>
            <p:ph type="dt" sz="half" idx="10"/>
          </p:nvPr>
        </p:nvSpPr>
        <p:spPr/>
        <p:txBody>
          <a:bodyPr/>
          <a:lstStyle/>
          <a:p>
            <a:fld id="{3C7BEEF8-18F5-4750-9311-DF00B58BD78D}" type="datetimeFigureOut">
              <a:rPr lang="fr-FR" smtClean="0"/>
              <a:pPr/>
              <a:t>08/06/2026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ED930643-5420-43F6-8A18-2E49ABE99872}" type="slidenum">
              <a:rPr lang="fr-FR" smtClean="0"/>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smtClean="0"/>
              <a:t>Cliquez pour modifier le style du titre</a:t>
            </a:r>
            <a:endParaRPr lang="fr-F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Espace réservé de la date 4"/>
          <p:cNvSpPr>
            <a:spLocks noGrp="1"/>
          </p:cNvSpPr>
          <p:nvPr>
            <p:ph type="dt" sz="half" idx="10"/>
          </p:nvPr>
        </p:nvSpPr>
        <p:spPr/>
        <p:txBody>
          <a:bodyPr/>
          <a:lstStyle/>
          <a:p>
            <a:fld id="{3C7BEEF8-18F5-4750-9311-DF00B58BD78D}" type="datetimeFigureOut">
              <a:rPr lang="fr-FR" smtClean="0"/>
              <a:pPr/>
              <a:t>08/06/2026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ED930643-5420-43F6-8A18-2E49ABE99872}" type="slidenum">
              <a:rPr lang="fr-FR" smtClean="0"/>
              <a:pP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3C7BEEF8-18F5-4750-9311-DF00B58BD78D}" type="datetimeFigureOut">
              <a:rPr lang="fr-FR" smtClean="0"/>
              <a:pPr/>
              <a:t>08/06/2026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ED930643-5420-43F6-8A18-2E49ABE99872}"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smtClean="0"/>
              <a:t>Cliquez pour modifier le style du titre</a:t>
            </a:r>
            <a:endParaRPr lang="fr-F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3C7BEEF8-18F5-4750-9311-DF00B58BD78D}" type="datetimeFigureOut">
              <a:rPr lang="fr-FR" smtClean="0"/>
              <a:pPr/>
              <a:t>08/06/2026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ED930643-5420-43F6-8A18-2E49ABE99872}" type="slidenum">
              <a:rPr lang="fr-FR" smtClean="0"/>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smtClean="0"/>
              <a:t>Cliquez pour modifier le style du titre</a:t>
            </a:r>
            <a:endParaRPr lang="fr-F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7BEEF8-18F5-4750-9311-DF00B58BD78D}" type="datetimeFigureOut">
              <a:rPr lang="fr-FR" smtClean="0"/>
              <a:pPr/>
              <a:t>08/06/2026</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930643-5420-43F6-8A18-2E49ABE99872}"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1928794" y="0"/>
            <a:ext cx="4467698" cy="369332"/>
          </a:xfrm>
          <a:prstGeom prst="rect">
            <a:avLst/>
          </a:prstGeom>
        </p:spPr>
        <p:txBody>
          <a:bodyPr wrap="none">
            <a:spAutoFit/>
          </a:bodyPr>
          <a:lstStyle/>
          <a:p>
            <a:r>
              <a:rPr lang="fr-FR" dirty="0" smtClean="0"/>
              <a:t>•  présenter le contexte pédagogique imposé </a:t>
            </a:r>
            <a:endParaRPr lang="fr-FR" dirty="0"/>
          </a:p>
        </p:txBody>
      </p:sp>
      <p:graphicFrame>
        <p:nvGraphicFramePr>
          <p:cNvPr id="14" name="Tableau 13"/>
          <p:cNvGraphicFramePr>
            <a:graphicFrameLocks noGrp="1"/>
          </p:cNvGraphicFramePr>
          <p:nvPr/>
        </p:nvGraphicFramePr>
        <p:xfrm>
          <a:off x="269352" y="427373"/>
          <a:ext cx="8517490" cy="6169655"/>
        </p:xfrm>
        <a:graphic>
          <a:graphicData uri="http://schemas.openxmlformats.org/drawingml/2006/table">
            <a:tbl>
              <a:tblPr firstRow="1" bandRow="1">
                <a:tableStyleId>{5C22544A-7EE6-4342-B048-85BDC9FD1C3A}</a:tableStyleId>
              </a:tblPr>
              <a:tblGrid>
                <a:gridCol w="2159508"/>
                <a:gridCol w="6357982"/>
              </a:tblGrid>
              <a:tr h="370840">
                <a:tc>
                  <a:txBody>
                    <a:bodyPr/>
                    <a:lstStyle/>
                    <a:p>
                      <a:r>
                        <a:rPr lang="fr-FR" sz="1600" dirty="0" smtClean="0"/>
                        <a:t>Titre</a:t>
                      </a:r>
                      <a:r>
                        <a:rPr lang="fr-FR" sz="1600" baseline="0" dirty="0" smtClean="0"/>
                        <a:t> de la séquence</a:t>
                      </a:r>
                      <a:endParaRPr lang="fr-FR" sz="1600" dirty="0"/>
                    </a:p>
                  </a:txBody>
                  <a:tcPr/>
                </a:tc>
                <a:tc>
                  <a:txBody>
                    <a:bodyPr/>
                    <a:lstStyle/>
                    <a:p>
                      <a:r>
                        <a:rPr lang="fr-FR" sz="1600" dirty="0" smtClean="0"/>
                        <a:t>Modéliser une chaîne électromécanique</a:t>
                      </a:r>
                      <a:endParaRPr lang="fr-FR" sz="1600" dirty="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600" b="1" dirty="0" smtClean="0"/>
                        <a:t>Niveau visé </a:t>
                      </a:r>
                      <a:endParaRPr lang="fr-FR" sz="1600" dirty="0"/>
                    </a:p>
                  </a:txBody>
                  <a:tcPr/>
                </a:tc>
                <a:tc>
                  <a:txBody>
                    <a:bodyPr/>
                    <a:lstStyle/>
                    <a:p>
                      <a:r>
                        <a:rPr lang="fr-FR" sz="1600" dirty="0" smtClean="0"/>
                        <a:t>Terminale générale, enseignement de spécialité Sciences de l'Ingénieur.</a:t>
                      </a:r>
                      <a:endParaRPr lang="fr-FR" sz="1600" dirty="0"/>
                    </a:p>
                  </a:txBody>
                  <a:tcPr/>
                </a:tc>
              </a:tr>
              <a:tr h="545435">
                <a:tc>
                  <a:txBody>
                    <a:bodyPr/>
                    <a:lstStyle/>
                    <a:p>
                      <a:r>
                        <a:rPr lang="fr-FR" sz="1600" b="1" dirty="0" smtClean="0"/>
                        <a:t>Problématique</a:t>
                      </a:r>
                      <a:endParaRPr lang="fr-FR"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600" dirty="0" smtClean="0"/>
                        <a:t>Comment élaborer et exploiter un modèle afin de prévoir le comportement d'une chaîne électromécanique ?</a:t>
                      </a:r>
                      <a:endParaRPr lang="fr-FR" sz="1600" b="1" dirty="0" smtClean="0"/>
                    </a:p>
                  </a:txBody>
                  <a:tcPr/>
                </a:tc>
              </a:tr>
              <a:tr h="370840">
                <a:tc>
                  <a:txBody>
                    <a:bodyPr/>
                    <a:lstStyle/>
                    <a:p>
                      <a:r>
                        <a:rPr lang="fr-FR" sz="1600" b="0" i="0" kern="1200" dirty="0" smtClean="0">
                          <a:solidFill>
                            <a:schemeClr val="dk1"/>
                          </a:solidFill>
                          <a:latin typeface="+mn-lt"/>
                          <a:ea typeface="+mn-ea"/>
                          <a:cs typeface="+mn-cs"/>
                        </a:rPr>
                        <a:t>Axe</a:t>
                      </a:r>
                      <a:endParaRPr lang="fr-FR" sz="1600" dirty="0"/>
                    </a:p>
                  </a:txBody>
                  <a:tcPr/>
                </a:tc>
                <a:tc>
                  <a:txBody>
                    <a:bodyPr/>
                    <a:lstStyle/>
                    <a:p>
                      <a:r>
                        <a:rPr lang="fr-FR" sz="1600" dirty="0" smtClean="0"/>
                        <a:t>Territoires intelligents et mobilités durables</a:t>
                      </a:r>
                    </a:p>
                  </a:txBody>
                  <a:tcPr/>
                </a:tc>
              </a:tr>
              <a:tr h="59878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600" b="1" dirty="0" err="1" smtClean="0"/>
                        <a:t>Prérequis</a:t>
                      </a:r>
                      <a:r>
                        <a:rPr lang="fr-FR" sz="1600" b="1" dirty="0" smtClean="0"/>
                        <a:t> </a:t>
                      </a:r>
                    </a:p>
                  </a:txBody>
                  <a:tcPr/>
                </a:tc>
                <a:tc>
                  <a:txBody>
                    <a:bodyPr/>
                    <a:lstStyle/>
                    <a:p>
                      <a:r>
                        <a:rPr lang="fr-FR" sz="1600" dirty="0" smtClean="0"/>
                        <a:t>chaîne d'énergie ; chaîne d'information ; moteur à courant continu ; acquisition de données ; représentation fonctionnelle.</a:t>
                      </a:r>
                      <a:endParaRPr lang="fr-FR" sz="1600" dirty="0"/>
                    </a:p>
                  </a:txBody>
                  <a:tcPr/>
                </a:tc>
              </a:tr>
              <a:tr h="370840">
                <a:tc>
                  <a:txBody>
                    <a:bodyPr/>
                    <a:lstStyle/>
                    <a:p>
                      <a:r>
                        <a:rPr lang="fr-FR" sz="1600" dirty="0" smtClean="0"/>
                        <a:t>Compétences  visées</a:t>
                      </a:r>
                      <a:endParaRPr lang="fr-FR" sz="1600" dirty="0"/>
                    </a:p>
                  </a:txBody>
                  <a:tcPr/>
                </a:tc>
                <a:tc>
                  <a:txBody>
                    <a:bodyPr/>
                    <a:lstStyle/>
                    <a:p>
                      <a:r>
                        <a:rPr lang="fr-FR" sz="1600" dirty="0" smtClean="0"/>
                        <a:t>: ( Bloc Modéliser / Résoudre</a:t>
                      </a:r>
                      <a:r>
                        <a:rPr lang="fr-FR" sz="1600" b="1" dirty="0" smtClean="0"/>
                        <a:t>) :</a:t>
                      </a:r>
                    </a:p>
                    <a:p>
                      <a:pPr>
                        <a:buFont typeface="Arial" pitchFamily="34" charset="0"/>
                        <a:buNone/>
                      </a:pPr>
                      <a:r>
                        <a:rPr lang="fr-FR" sz="1600" dirty="0" smtClean="0"/>
                        <a:t>-Associer un modèle à un système asservi. </a:t>
                      </a:r>
                    </a:p>
                    <a:p>
                      <a:pPr>
                        <a:buFont typeface="Arial" pitchFamily="34" charset="0"/>
                        <a:buNone/>
                      </a:pPr>
                      <a:r>
                        <a:rPr lang="fr-FR" sz="1600" dirty="0" smtClean="0"/>
                        <a:t>-Quantifier les performances d'un système à l'aide d'un modèle.</a:t>
                      </a:r>
                    </a:p>
                  </a:txBody>
                  <a:tcPr/>
                </a:tc>
              </a:tr>
              <a:tr h="370840">
                <a:tc>
                  <a:txBody>
                    <a:bodyPr/>
                    <a:lstStyle/>
                    <a:p>
                      <a:r>
                        <a:rPr lang="fr-FR" sz="1600" dirty="0" smtClean="0"/>
                        <a:t>Savoir associés </a:t>
                      </a:r>
                      <a:endParaRPr lang="fr-FR" sz="1600" dirty="0"/>
                    </a:p>
                  </a:txBody>
                  <a:tcPr/>
                </a:tc>
                <a:tc>
                  <a:txBody>
                    <a:bodyPr/>
                    <a:lstStyle/>
                    <a:p>
                      <a:r>
                        <a:rPr lang="fr-FR" sz="1600" dirty="0" smtClean="0"/>
                        <a:t>-méthodes de résolution analytique ; </a:t>
                      </a:r>
                    </a:p>
                    <a:p>
                      <a:r>
                        <a:rPr lang="fr-FR" sz="1600" dirty="0" smtClean="0"/>
                        <a:t>-méthodes de résolution numérique ; </a:t>
                      </a:r>
                    </a:p>
                    <a:p>
                      <a:r>
                        <a:rPr lang="fr-FR" sz="1600" dirty="0" smtClean="0"/>
                        <a:t>-exploitation des résultats de simulation ; </a:t>
                      </a:r>
                    </a:p>
                    <a:p>
                      <a:r>
                        <a:rPr lang="fr-FR" sz="1600" dirty="0" smtClean="0"/>
                        <a:t>-comparaison modèle / réel.</a:t>
                      </a:r>
                      <a:endParaRPr lang="fr-FR" sz="1600" dirty="0"/>
                    </a:p>
                  </a:txBody>
                  <a:tcPr/>
                </a:tc>
              </a:tr>
              <a:tr h="321638">
                <a:tc>
                  <a:txBody>
                    <a:bodyPr/>
                    <a:lstStyle/>
                    <a:p>
                      <a:r>
                        <a:rPr lang="fr-FR" sz="1600" dirty="0" smtClean="0"/>
                        <a:t>Effectif </a:t>
                      </a:r>
                      <a:endParaRPr lang="fr-FR" sz="1600" dirty="0"/>
                    </a:p>
                  </a:txBody>
                  <a:tcPr/>
                </a:tc>
                <a:tc>
                  <a:txBody>
                    <a:bodyPr/>
                    <a:lstStyle/>
                    <a:p>
                      <a:r>
                        <a:rPr lang="fr-FR" sz="1600" dirty="0" smtClean="0"/>
                        <a:t>Classe de 40 à 42 élèves, groupe à effectif réduit de 20-21 élèves</a:t>
                      </a:r>
                      <a:endParaRPr lang="fr-FR" sz="1600" dirty="0"/>
                    </a:p>
                  </a:txBody>
                  <a:tcPr/>
                </a:tc>
              </a:tr>
              <a:tr h="343548">
                <a:tc>
                  <a:txBody>
                    <a:bodyPr/>
                    <a:lstStyle/>
                    <a:p>
                      <a:r>
                        <a:rPr lang="fr-FR" sz="1600" dirty="0" smtClean="0"/>
                        <a:t>Volume horaire</a:t>
                      </a:r>
                      <a:endParaRPr lang="fr-FR" sz="1600" dirty="0"/>
                    </a:p>
                  </a:txBody>
                  <a:tcPr/>
                </a:tc>
                <a:tc>
                  <a:txBody>
                    <a:bodyPr/>
                    <a:lstStyle/>
                    <a:p>
                      <a:r>
                        <a:rPr lang="fr-FR" sz="1600" dirty="0" smtClean="0"/>
                        <a:t>4 heures hebdomadaires (1h de cours + 1h de TD + 2h de TP)</a:t>
                      </a:r>
                      <a:endParaRPr lang="fr-FR" sz="1600" dirty="0"/>
                    </a:p>
                  </a:txBody>
                  <a:tcPr/>
                </a:tc>
              </a:tr>
              <a:tr h="698854">
                <a:tc>
                  <a:txBody>
                    <a:bodyPr/>
                    <a:lstStyle/>
                    <a:p>
                      <a:r>
                        <a:rPr lang="fr-FR" sz="1600" dirty="0" smtClean="0"/>
                        <a:t>Organisation matérielle</a:t>
                      </a:r>
                      <a:endParaRPr lang="fr-FR" sz="1600" dirty="0"/>
                    </a:p>
                  </a:txBody>
                  <a:tcPr/>
                </a:tc>
                <a:tc>
                  <a:txBody>
                    <a:bodyPr/>
                    <a:lstStyle/>
                    <a:p>
                      <a:r>
                        <a:rPr lang="fr-FR" sz="1600" dirty="0" smtClean="0"/>
                        <a:t>La classe est divisée en groupes de 3 élèves.</a:t>
                      </a:r>
                    </a:p>
                    <a:p>
                      <a:pPr marL="0" marR="0" indent="0" algn="l" defTabSz="914400" rtl="0" eaLnBrk="1" fontAlgn="auto" latinLnBrk="0" hangingPunct="1">
                        <a:lnSpc>
                          <a:spcPct val="100000"/>
                        </a:lnSpc>
                        <a:spcBef>
                          <a:spcPts val="0"/>
                        </a:spcBef>
                        <a:spcAft>
                          <a:spcPts val="0"/>
                        </a:spcAft>
                        <a:buClrTx/>
                        <a:buSzTx/>
                        <a:buFontTx/>
                        <a:buNone/>
                        <a:tabLst/>
                        <a:defRPr/>
                      </a:pPr>
                      <a:r>
                        <a:rPr lang="fr-FR" sz="1600" dirty="0" smtClean="0"/>
                        <a:t>Chaque groupe travaille sur un système différent présentant une chaîne électromécanique asservie : Robot à câbles, Télescope </a:t>
                      </a:r>
                      <a:r>
                        <a:rPr lang="fr-FR" sz="1600" dirty="0" err="1" smtClean="0"/>
                        <a:t>Astrolab</a:t>
                      </a:r>
                      <a:r>
                        <a:rPr lang="fr-FR" sz="1600" dirty="0" smtClean="0"/>
                        <a:t>, Robot cueilleur </a:t>
                      </a:r>
                      <a:r>
                        <a:rPr lang="fr-FR" sz="1600" dirty="0" err="1" smtClean="0"/>
                        <a:t>MaxPid</a:t>
                      </a:r>
                      <a:r>
                        <a:rPr lang="fr-FR" sz="1600" dirty="0" smtClean="0"/>
                        <a:t>, Pilote hydraulique, Projecteur motorisé, Robot holonome, </a:t>
                      </a:r>
                      <a:r>
                        <a:rPr lang="fr-FR" sz="1600" dirty="0" err="1" smtClean="0"/>
                        <a:t>Gyropode</a:t>
                      </a:r>
                      <a:endParaRPr lang="fr-FR" sz="1600" dirty="0"/>
                    </a:p>
                  </a:txBody>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au 9"/>
          <p:cNvGraphicFramePr>
            <a:graphicFrameLocks noGrp="1"/>
          </p:cNvGraphicFramePr>
          <p:nvPr/>
        </p:nvGraphicFramePr>
        <p:xfrm>
          <a:off x="285720" y="357166"/>
          <a:ext cx="7998524" cy="5032988"/>
        </p:xfrm>
        <a:graphic>
          <a:graphicData uri="http://schemas.openxmlformats.org/drawingml/2006/table">
            <a:tbl>
              <a:tblPr>
                <a:tableStyleId>{BC89EF96-8CEA-46FF-86C4-4CE0E7609802}</a:tableStyleId>
              </a:tblPr>
              <a:tblGrid>
                <a:gridCol w="1071570"/>
                <a:gridCol w="1500198"/>
                <a:gridCol w="1428760"/>
                <a:gridCol w="1357322"/>
                <a:gridCol w="1500198"/>
                <a:gridCol w="1140476"/>
              </a:tblGrid>
              <a:tr h="603240">
                <a:tc>
                  <a:txBody>
                    <a:bodyPr/>
                    <a:lstStyle/>
                    <a:p>
                      <a:r>
                        <a:rPr lang="fr-FR" sz="1200" dirty="0"/>
                        <a:t>Situation dans la progression</a:t>
                      </a:r>
                    </a:p>
                  </a:txBody>
                  <a:tcPr marL="71298" marR="71298" marT="35649" marB="35649" anchor="ctr"/>
                </a:tc>
                <a:tc>
                  <a:txBody>
                    <a:bodyPr/>
                    <a:lstStyle/>
                    <a:p>
                      <a:r>
                        <a:rPr lang="fr-FR" sz="1200" dirty="0" smtClean="0"/>
                        <a:t>Rentrée-Toussaint</a:t>
                      </a:r>
                    </a:p>
                  </a:txBody>
                  <a:tcPr marL="71298" marR="71298" marT="35649" marB="35649" anchor="ctr"/>
                </a:tc>
                <a:tc>
                  <a:txBody>
                    <a:bodyPr/>
                    <a:lstStyle/>
                    <a:p>
                      <a:r>
                        <a:rPr lang="fr-FR" sz="1200" dirty="0" smtClean="0"/>
                        <a:t>Toussaint-Noël</a:t>
                      </a:r>
                      <a:endParaRPr lang="fr-FR" sz="1200" dirty="0"/>
                    </a:p>
                  </a:txBody>
                  <a:tcPr marL="71298" marR="71298" marT="35649" marB="35649" anchor="ctr"/>
                </a:tc>
                <a:tc>
                  <a:txBody>
                    <a:bodyPr/>
                    <a:lstStyle/>
                    <a:p>
                      <a:r>
                        <a:rPr lang="fr-FR" sz="1200" dirty="0" smtClean="0"/>
                        <a:t>Noël-Hiver</a:t>
                      </a:r>
                      <a:endParaRPr lang="fr-FR" sz="1200" dirty="0"/>
                    </a:p>
                  </a:txBody>
                  <a:tcPr marL="71298" marR="71298" marT="35649" marB="35649" anchor="ctr"/>
                </a:tc>
                <a:tc>
                  <a:txBody>
                    <a:bodyPr/>
                    <a:lstStyle/>
                    <a:p>
                      <a:r>
                        <a:rPr lang="fr-FR" sz="1200" dirty="0" smtClean="0"/>
                        <a:t>Hiver-Printemps</a:t>
                      </a:r>
                      <a:endParaRPr lang="fr-FR" sz="1200" dirty="0"/>
                    </a:p>
                  </a:txBody>
                  <a:tcPr marL="71298" marR="71298" marT="35649" marB="35649" anchor="ctr"/>
                </a:tc>
                <a:tc>
                  <a:txBody>
                    <a:bodyPr/>
                    <a:lstStyle/>
                    <a:p>
                      <a:r>
                        <a:rPr lang="fr-FR" sz="1200" dirty="0" smtClean="0"/>
                        <a:t>Printemps - Été</a:t>
                      </a:r>
                      <a:endParaRPr lang="fr-FR" sz="1200" dirty="0"/>
                    </a:p>
                  </a:txBody>
                  <a:tcPr marL="71298" marR="71298" marT="35649" marB="35649" anchor="ctr"/>
                </a:tc>
              </a:tr>
              <a:tr h="285193">
                <a:tc>
                  <a:txBody>
                    <a:bodyPr/>
                    <a:lstStyle/>
                    <a:p>
                      <a:r>
                        <a:rPr lang="fr-FR" sz="1200" dirty="0" err="1"/>
                        <a:t>Séq</a:t>
                      </a:r>
                      <a:r>
                        <a:rPr lang="fr-FR" sz="1200" dirty="0"/>
                        <a:t>. </a:t>
                      </a:r>
                      <a:r>
                        <a:rPr lang="fr-FR" sz="1200" dirty="0" smtClean="0"/>
                        <a:t>7</a:t>
                      </a:r>
                      <a:endParaRPr lang="fr-FR" sz="1200" dirty="0"/>
                    </a:p>
                  </a:txBody>
                  <a:tcPr marL="71298" marR="71298" marT="35649" marB="35649" anchor="ctr"/>
                </a:tc>
                <a:tc>
                  <a:txBody>
                    <a:bodyPr/>
                    <a:lstStyle/>
                    <a:p>
                      <a:r>
                        <a:rPr lang="fr-FR" sz="1200" dirty="0" smtClean="0"/>
                        <a:t>Analyse fonctionnelle d'un système</a:t>
                      </a:r>
                      <a:endParaRPr lang="fr-FR" sz="1200" dirty="0"/>
                    </a:p>
                  </a:txBody>
                  <a:tcPr marL="71298" marR="71298" marT="35649" marB="35649" anchor="ctr">
                    <a:solidFill>
                      <a:schemeClr val="accent3"/>
                    </a:solidFill>
                  </a:tcPr>
                </a:tc>
                <a:tc>
                  <a:txBody>
                    <a:bodyPr/>
                    <a:lstStyle/>
                    <a:p>
                      <a:endParaRPr lang="fr-FR" sz="1200" dirty="0"/>
                    </a:p>
                  </a:txBody>
                  <a:tcPr marL="71298" marR="71298" marT="35649" marB="35649" anchor="ctr"/>
                </a:tc>
                <a:tc>
                  <a:txBody>
                    <a:bodyPr/>
                    <a:lstStyle/>
                    <a:p>
                      <a:endParaRPr lang="fr-FR" sz="1200" dirty="0"/>
                    </a:p>
                  </a:txBody>
                  <a:tcPr marL="71298" marR="71298" marT="35649" marB="35649" anchor="ctr"/>
                </a:tc>
                <a:tc>
                  <a:txBody>
                    <a:bodyPr/>
                    <a:lstStyle/>
                    <a:p>
                      <a:endParaRPr lang="fr-FR" sz="1200" dirty="0"/>
                    </a:p>
                  </a:txBody>
                  <a:tcPr marL="71298" marR="71298" marT="35649" marB="35649" anchor="ctr"/>
                </a:tc>
                <a:tc>
                  <a:txBody>
                    <a:bodyPr/>
                    <a:lstStyle/>
                    <a:p>
                      <a:endParaRPr lang="fr-FR" sz="1200"/>
                    </a:p>
                  </a:txBody>
                  <a:tcPr marL="71298" marR="71298" marT="35649" marB="35649" anchor="ctr"/>
                </a:tc>
              </a:tr>
              <a:tr h="285193">
                <a:tc>
                  <a:txBody>
                    <a:bodyPr/>
                    <a:lstStyle/>
                    <a:p>
                      <a:r>
                        <a:rPr lang="fr-FR" sz="1200" dirty="0" err="1"/>
                        <a:t>Séq</a:t>
                      </a:r>
                      <a:r>
                        <a:rPr lang="fr-FR" sz="1200" dirty="0"/>
                        <a:t>. </a:t>
                      </a:r>
                      <a:r>
                        <a:rPr lang="fr-FR" sz="1200" dirty="0" smtClean="0"/>
                        <a:t>8</a:t>
                      </a:r>
                      <a:endParaRPr lang="fr-FR" sz="1200" dirty="0"/>
                    </a:p>
                  </a:txBody>
                  <a:tcPr marL="71298" marR="71298" marT="35649" marB="35649"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smtClean="0"/>
                        <a:t>Chaînes d'énergie et </a:t>
                      </a:r>
                      <a:r>
                        <a:rPr lang="fr-FR" sz="1200" dirty="0" smtClean="0"/>
                        <a:t>d'information (Caractérisation expérimentale)</a:t>
                      </a:r>
                    </a:p>
                  </a:txBody>
                  <a:tcPr marL="71298" marR="71298" marT="35649" marB="35649" anchor="ctr">
                    <a:solidFill>
                      <a:schemeClr val="accent1">
                        <a:lumMod val="20000"/>
                        <a:lumOff val="80000"/>
                      </a:schemeClr>
                    </a:solidFill>
                  </a:tcPr>
                </a:tc>
                <a:tc>
                  <a:txBody>
                    <a:bodyPr/>
                    <a:lstStyle/>
                    <a:p>
                      <a:endParaRPr lang="fr-FR" sz="1200" dirty="0"/>
                    </a:p>
                  </a:txBody>
                  <a:tcPr marL="71298" marR="71298" marT="35649" marB="35649" anchor="ctr"/>
                </a:tc>
                <a:tc>
                  <a:txBody>
                    <a:bodyPr/>
                    <a:lstStyle/>
                    <a:p>
                      <a:endParaRPr lang="fr-FR" sz="1200"/>
                    </a:p>
                  </a:txBody>
                  <a:tcPr marL="71298" marR="71298" marT="35649" marB="35649" anchor="ctr"/>
                </a:tc>
                <a:tc>
                  <a:txBody>
                    <a:bodyPr/>
                    <a:lstStyle/>
                    <a:p>
                      <a:endParaRPr lang="fr-FR" sz="1200" dirty="0"/>
                    </a:p>
                  </a:txBody>
                  <a:tcPr marL="71298" marR="71298" marT="35649" marB="35649" anchor="ctr"/>
                </a:tc>
                <a:tc>
                  <a:txBody>
                    <a:bodyPr/>
                    <a:lstStyle/>
                    <a:p>
                      <a:endParaRPr lang="fr-FR" sz="1200"/>
                    </a:p>
                  </a:txBody>
                  <a:tcPr marL="71298" marR="71298" marT="35649" marB="35649" anchor="ctr"/>
                </a:tc>
              </a:tr>
              <a:tr h="290431">
                <a:tc>
                  <a:txBody>
                    <a:bodyPr/>
                    <a:lstStyle/>
                    <a:p>
                      <a:r>
                        <a:rPr lang="fr-FR" sz="1200" dirty="0" err="1"/>
                        <a:t>Séq</a:t>
                      </a:r>
                      <a:r>
                        <a:rPr lang="fr-FR" sz="1200" dirty="0"/>
                        <a:t>. </a:t>
                      </a:r>
                      <a:r>
                        <a:rPr lang="fr-FR" sz="1200" dirty="0" smtClean="0"/>
                        <a:t>9</a:t>
                      </a:r>
                      <a:endParaRPr lang="fr-FR" sz="1200" dirty="0"/>
                    </a:p>
                  </a:txBody>
                  <a:tcPr marL="71298" marR="71298" marT="35649" marB="35649" anchor="ctr"/>
                </a:tc>
                <a:tc>
                  <a:txBody>
                    <a:bodyPr/>
                    <a:lstStyle/>
                    <a:p>
                      <a:endParaRPr lang="fr-FR" sz="1200" dirty="0"/>
                    </a:p>
                  </a:txBody>
                  <a:tcPr marL="71298" marR="71298" marT="35649" marB="35649"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smtClean="0"/>
                        <a:t>Modéliser une chaîne électromécanique</a:t>
                      </a:r>
                      <a:endParaRPr lang="fr-FR" sz="1200" dirty="0"/>
                    </a:p>
                  </a:txBody>
                  <a:tcPr marL="71298" marR="71298" marT="35649" marB="35649" anchor="ctr">
                    <a:solidFill>
                      <a:schemeClr val="accent4"/>
                    </a:solidFill>
                  </a:tcPr>
                </a:tc>
                <a:tc>
                  <a:txBody>
                    <a:bodyPr/>
                    <a:lstStyle/>
                    <a:p>
                      <a:endParaRPr lang="fr-FR" sz="1200" dirty="0"/>
                    </a:p>
                  </a:txBody>
                  <a:tcPr marL="71298" marR="71298" marT="35649" marB="35649" anchor="ctr"/>
                </a:tc>
                <a:tc>
                  <a:txBody>
                    <a:bodyPr/>
                    <a:lstStyle/>
                    <a:p>
                      <a:endParaRPr lang="fr-FR" sz="1200" dirty="0"/>
                    </a:p>
                  </a:txBody>
                  <a:tcPr marL="71298" marR="71298" marT="35649" marB="35649" anchor="ctr"/>
                </a:tc>
                <a:tc>
                  <a:txBody>
                    <a:bodyPr/>
                    <a:lstStyle/>
                    <a:p>
                      <a:endParaRPr lang="fr-FR" sz="1200" dirty="0"/>
                    </a:p>
                  </a:txBody>
                  <a:tcPr marL="71298" marR="71298" marT="35649" marB="35649" anchor="ctr"/>
                </a:tc>
              </a:tr>
              <a:tr h="290431">
                <a:tc>
                  <a:txBody>
                    <a:bodyPr/>
                    <a:lstStyle/>
                    <a:p>
                      <a:r>
                        <a:rPr lang="fr-FR" sz="1200" dirty="0" err="1"/>
                        <a:t>Séq</a:t>
                      </a:r>
                      <a:r>
                        <a:rPr lang="fr-FR" sz="1200" dirty="0"/>
                        <a:t>. </a:t>
                      </a:r>
                      <a:r>
                        <a:rPr lang="fr-FR" sz="1200" dirty="0" smtClean="0"/>
                        <a:t>10</a:t>
                      </a:r>
                      <a:endParaRPr lang="fr-FR" sz="1200" dirty="0"/>
                    </a:p>
                  </a:txBody>
                  <a:tcPr marL="71298" marR="71298" marT="35649" marB="35649" anchor="ctr"/>
                </a:tc>
                <a:tc>
                  <a:txBody>
                    <a:bodyPr/>
                    <a:lstStyle/>
                    <a:p>
                      <a:endParaRPr lang="fr-FR" sz="1200" dirty="0"/>
                    </a:p>
                  </a:txBody>
                  <a:tcPr marL="71298" marR="71298" marT="35649" marB="35649"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smtClean="0"/>
                        <a:t>Validation expérimentale d'un modèle</a:t>
                      </a:r>
                      <a:endParaRPr lang="fr-FR" sz="1200" dirty="0"/>
                    </a:p>
                  </a:txBody>
                  <a:tcPr marL="71298" marR="71298" marT="35649" marB="35649" anchor="ctr">
                    <a:solidFill>
                      <a:schemeClr val="tx2">
                        <a:lumMod val="20000"/>
                        <a:lumOff val="80000"/>
                      </a:schemeClr>
                    </a:solidFill>
                  </a:tcPr>
                </a:tc>
                <a:tc>
                  <a:txBody>
                    <a:bodyPr/>
                    <a:lstStyle/>
                    <a:p>
                      <a:endParaRPr lang="fr-FR" sz="1200" dirty="0"/>
                    </a:p>
                  </a:txBody>
                  <a:tcPr marL="71298" marR="71298" marT="35649" marB="35649" anchor="ctr"/>
                </a:tc>
                <a:tc>
                  <a:txBody>
                    <a:bodyPr/>
                    <a:lstStyle/>
                    <a:p>
                      <a:endParaRPr lang="fr-FR" sz="1200" dirty="0"/>
                    </a:p>
                  </a:txBody>
                  <a:tcPr marL="71298" marR="71298" marT="35649" marB="35649" anchor="ctr"/>
                </a:tc>
                <a:tc>
                  <a:txBody>
                    <a:bodyPr/>
                    <a:lstStyle/>
                    <a:p>
                      <a:endParaRPr lang="fr-FR" sz="1200" dirty="0"/>
                    </a:p>
                  </a:txBody>
                  <a:tcPr marL="71298" marR="71298" marT="35649" marB="35649" anchor="ctr"/>
                </a:tc>
              </a:tr>
              <a:tr h="285752">
                <a:tc>
                  <a:txBody>
                    <a:bodyPr/>
                    <a:lstStyle/>
                    <a:p>
                      <a:r>
                        <a:rPr lang="fr-FR" sz="1200" dirty="0" err="1"/>
                        <a:t>Séq</a:t>
                      </a:r>
                      <a:r>
                        <a:rPr lang="fr-FR" sz="1200" dirty="0"/>
                        <a:t>. </a:t>
                      </a:r>
                      <a:r>
                        <a:rPr lang="fr-FR" sz="1200" dirty="0" smtClean="0"/>
                        <a:t>11</a:t>
                      </a:r>
                      <a:endParaRPr lang="fr-FR" sz="1200" dirty="0"/>
                    </a:p>
                  </a:txBody>
                  <a:tcPr marL="71298" marR="71298" marT="35649" marB="35649" anchor="ctr"/>
                </a:tc>
                <a:tc>
                  <a:txBody>
                    <a:bodyPr/>
                    <a:lstStyle/>
                    <a:p>
                      <a:endParaRPr lang="fr-FR" sz="1200"/>
                    </a:p>
                  </a:txBody>
                  <a:tcPr marL="71298" marR="71298" marT="35649" marB="35649" anchor="ctr"/>
                </a:tc>
                <a:tc>
                  <a:txBody>
                    <a:bodyPr/>
                    <a:lstStyle/>
                    <a:p>
                      <a:endParaRPr lang="fr-FR" sz="1200"/>
                    </a:p>
                  </a:txBody>
                  <a:tcPr marL="71298" marR="71298" marT="35649" marB="35649" anchor="ctr"/>
                </a:tc>
                <a:tc>
                  <a:txBody>
                    <a:bodyPr/>
                    <a:lstStyle/>
                    <a:p>
                      <a:r>
                        <a:rPr lang="fr-FR" sz="1200" dirty="0" smtClean="0"/>
                        <a:t>Optimisation des performances</a:t>
                      </a:r>
                      <a:endParaRPr lang="fr-FR" sz="1200" dirty="0"/>
                    </a:p>
                  </a:txBody>
                  <a:tcPr marL="71298" marR="71298" marT="35649" marB="35649" anchor="ctr">
                    <a:solidFill>
                      <a:schemeClr val="accent3"/>
                    </a:solidFill>
                  </a:tcPr>
                </a:tc>
                <a:tc>
                  <a:txBody>
                    <a:bodyPr/>
                    <a:lstStyle/>
                    <a:p>
                      <a:endParaRPr lang="fr-FR" sz="1200" dirty="0"/>
                    </a:p>
                  </a:txBody>
                  <a:tcPr marL="71298" marR="71298" marT="35649" marB="35649" anchor="ctr"/>
                </a:tc>
                <a:tc>
                  <a:txBody>
                    <a:bodyPr/>
                    <a:lstStyle/>
                    <a:p>
                      <a:endParaRPr lang="fr-FR" sz="1200"/>
                    </a:p>
                  </a:txBody>
                  <a:tcPr marL="71298" marR="71298" marT="35649" marB="35649" anchor="ctr"/>
                </a:tc>
              </a:tr>
              <a:tr h="368762">
                <a:tc>
                  <a:txBody>
                    <a:bodyPr/>
                    <a:lstStyle/>
                    <a:p>
                      <a:r>
                        <a:rPr lang="fr-FR" sz="1200" dirty="0" err="1"/>
                        <a:t>Séq</a:t>
                      </a:r>
                      <a:r>
                        <a:rPr lang="fr-FR" sz="1200" dirty="0"/>
                        <a:t>. </a:t>
                      </a:r>
                      <a:r>
                        <a:rPr lang="fr-FR" sz="1200" dirty="0" smtClean="0"/>
                        <a:t>12</a:t>
                      </a:r>
                      <a:endParaRPr lang="fr-FR" sz="1200" dirty="0"/>
                    </a:p>
                  </a:txBody>
                  <a:tcPr marL="71298" marR="71298" marT="35649" marB="35649" anchor="ctr"/>
                </a:tc>
                <a:tc>
                  <a:txBody>
                    <a:bodyPr/>
                    <a:lstStyle/>
                    <a:p>
                      <a:endParaRPr lang="fr-FR" sz="1200"/>
                    </a:p>
                  </a:txBody>
                  <a:tcPr marL="71298" marR="71298" marT="35649" marB="35649" anchor="ctr"/>
                </a:tc>
                <a:tc>
                  <a:txBody>
                    <a:bodyPr/>
                    <a:lstStyle/>
                    <a:p>
                      <a:endParaRPr lang="fr-FR" sz="1200" dirty="0"/>
                    </a:p>
                  </a:txBody>
                  <a:tcPr marL="71298" marR="71298" marT="35649" marB="35649" anchor="ctr"/>
                </a:tc>
                <a:tc>
                  <a:txBody>
                    <a:bodyPr/>
                    <a:lstStyle/>
                    <a:p>
                      <a:r>
                        <a:rPr lang="fr-FR" sz="1200" dirty="0" smtClean="0"/>
                        <a:t>Mettre en œuvre des objets intelligents</a:t>
                      </a:r>
                      <a:endParaRPr lang="fr-FR" sz="1200" dirty="0"/>
                    </a:p>
                  </a:txBody>
                  <a:tcPr marL="71298" marR="71298" marT="35649" marB="35649" anchor="ctr">
                    <a:solidFill>
                      <a:schemeClr val="accent3"/>
                    </a:solidFill>
                  </a:tcPr>
                </a:tc>
                <a:tc>
                  <a:txBody>
                    <a:bodyPr/>
                    <a:lstStyle/>
                    <a:p>
                      <a:endParaRPr lang="fr-FR" sz="1200"/>
                    </a:p>
                  </a:txBody>
                  <a:tcPr marL="71298" marR="71298" marT="35649" marB="35649" anchor="ctr"/>
                </a:tc>
                <a:tc>
                  <a:txBody>
                    <a:bodyPr/>
                    <a:lstStyle/>
                    <a:p>
                      <a:endParaRPr lang="fr-FR" sz="1200"/>
                    </a:p>
                  </a:txBody>
                  <a:tcPr marL="71298" marR="71298" marT="35649" marB="35649" anchor="ctr"/>
                </a:tc>
              </a:tr>
              <a:tr h="124249">
                <a:tc>
                  <a:txBody>
                    <a:bodyPr/>
                    <a:lstStyle/>
                    <a:p>
                      <a:r>
                        <a:rPr lang="fr-FR" sz="1200" dirty="0" err="1"/>
                        <a:t>Séq</a:t>
                      </a:r>
                      <a:r>
                        <a:rPr lang="fr-FR" sz="1200" dirty="0"/>
                        <a:t>. </a:t>
                      </a:r>
                      <a:r>
                        <a:rPr lang="fr-FR" sz="1200" dirty="0" smtClean="0"/>
                        <a:t>13</a:t>
                      </a:r>
                      <a:endParaRPr lang="fr-FR" sz="1200" dirty="0"/>
                    </a:p>
                  </a:txBody>
                  <a:tcPr marL="71298" marR="71298" marT="35649" marB="35649" anchor="ctr"/>
                </a:tc>
                <a:tc>
                  <a:txBody>
                    <a:bodyPr/>
                    <a:lstStyle/>
                    <a:p>
                      <a:endParaRPr lang="fr-FR" sz="1200"/>
                    </a:p>
                  </a:txBody>
                  <a:tcPr marL="71298" marR="71298" marT="35649" marB="35649" anchor="ctr"/>
                </a:tc>
                <a:tc>
                  <a:txBody>
                    <a:bodyPr/>
                    <a:lstStyle/>
                    <a:p>
                      <a:endParaRPr lang="fr-FR" sz="1200"/>
                    </a:p>
                  </a:txBody>
                  <a:tcPr marL="71298" marR="71298" marT="35649" marB="35649" anchor="ctr"/>
                </a:tc>
                <a:tc>
                  <a:txBody>
                    <a:bodyPr/>
                    <a:lstStyle/>
                    <a:p>
                      <a:endParaRPr lang="fr-FR" sz="1200" dirty="0"/>
                    </a:p>
                  </a:txBody>
                  <a:tcPr marL="71298" marR="71298" marT="35649" marB="35649" anchor="ctr"/>
                </a:tc>
                <a:tc>
                  <a:txBody>
                    <a:bodyPr/>
                    <a:lstStyle/>
                    <a:p>
                      <a:r>
                        <a:rPr lang="fr-FR" sz="1200" dirty="0" smtClean="0"/>
                        <a:t> traduire ou prévoir le comportement d’un produit</a:t>
                      </a:r>
                      <a:endParaRPr lang="fr-FR" sz="1200" dirty="0"/>
                    </a:p>
                  </a:txBody>
                  <a:tcPr marL="71298" marR="71298" marT="35649" marB="35649" anchor="ctr">
                    <a:solidFill>
                      <a:schemeClr val="accent3"/>
                    </a:solidFill>
                  </a:tcPr>
                </a:tc>
                <a:tc>
                  <a:txBody>
                    <a:bodyPr/>
                    <a:lstStyle/>
                    <a:p>
                      <a:endParaRPr lang="fr-FR" sz="1200"/>
                    </a:p>
                  </a:txBody>
                  <a:tcPr marL="71298" marR="71298" marT="35649" marB="35649" anchor="ctr"/>
                </a:tc>
              </a:tr>
              <a:tr h="273062">
                <a:tc>
                  <a:txBody>
                    <a:bodyPr/>
                    <a:lstStyle/>
                    <a:p>
                      <a:r>
                        <a:rPr lang="fr-FR" sz="1200" dirty="0" smtClean="0"/>
                        <a:t>Projet</a:t>
                      </a:r>
                      <a:r>
                        <a:rPr lang="fr-FR" sz="1200" baseline="0" dirty="0" smtClean="0"/>
                        <a:t> 48</a:t>
                      </a:r>
                      <a:endParaRPr lang="fr-FR" sz="1200" dirty="0"/>
                    </a:p>
                  </a:txBody>
                  <a:tcPr marL="71298" marR="71298" marT="35649" marB="35649" anchor="ctr"/>
                </a:tc>
                <a:tc>
                  <a:txBody>
                    <a:bodyPr/>
                    <a:lstStyle/>
                    <a:p>
                      <a:endParaRPr lang="fr-FR" sz="1200"/>
                    </a:p>
                  </a:txBody>
                  <a:tcPr marL="71298" marR="71298" marT="35649" marB="35649" anchor="ctr"/>
                </a:tc>
                <a:tc>
                  <a:txBody>
                    <a:bodyPr/>
                    <a:lstStyle/>
                    <a:p>
                      <a:endParaRPr lang="fr-FR" sz="1200" dirty="0"/>
                    </a:p>
                  </a:txBody>
                  <a:tcPr marL="71298" marR="71298" marT="35649" marB="35649" anchor="ctr"/>
                </a:tc>
                <a:tc>
                  <a:txBody>
                    <a:bodyPr/>
                    <a:lstStyle/>
                    <a:p>
                      <a:endParaRPr lang="fr-FR" sz="1200" dirty="0"/>
                    </a:p>
                  </a:txBody>
                  <a:tcPr marL="71298" marR="71298" marT="35649" marB="35649" anchor="ctr"/>
                </a:tc>
                <a:tc>
                  <a:txBody>
                    <a:bodyPr/>
                    <a:lstStyle/>
                    <a:p>
                      <a:endParaRPr lang="fr-FR" sz="1200" dirty="0"/>
                    </a:p>
                  </a:txBody>
                  <a:tcPr marL="71298" marR="71298" marT="35649" marB="35649" anchor="ctr">
                    <a:solidFill>
                      <a:schemeClr val="accent3"/>
                    </a:solidFill>
                  </a:tcPr>
                </a:tc>
                <a:tc>
                  <a:txBody>
                    <a:bodyPr/>
                    <a:lstStyle/>
                    <a:p>
                      <a:endParaRPr lang="fr-FR" sz="1200" dirty="0"/>
                    </a:p>
                  </a:txBody>
                  <a:tcPr marL="71298" marR="71298" marT="35649" marB="35649" anchor="ctr">
                    <a:solidFill>
                      <a:schemeClr val="accent3"/>
                    </a:solidFill>
                  </a:tcPr>
                </a:tc>
              </a:tr>
            </a:tbl>
          </a:graphicData>
        </a:graphic>
      </p:graphicFrame>
      <p:sp>
        <p:nvSpPr>
          <p:cNvPr id="11" name="Rectangle 10"/>
          <p:cNvSpPr/>
          <p:nvPr/>
        </p:nvSpPr>
        <p:spPr>
          <a:xfrm>
            <a:off x="1928794" y="0"/>
            <a:ext cx="4467698" cy="369332"/>
          </a:xfrm>
          <a:prstGeom prst="rect">
            <a:avLst/>
          </a:prstGeom>
        </p:spPr>
        <p:txBody>
          <a:bodyPr wrap="none">
            <a:spAutoFit/>
          </a:bodyPr>
          <a:lstStyle/>
          <a:p>
            <a:r>
              <a:rPr lang="fr-FR" dirty="0" smtClean="0"/>
              <a:t>•  présenter le contexte pédagogique imposé </a:t>
            </a:r>
            <a:endParaRPr lang="fr-FR" dirty="0"/>
          </a:p>
        </p:txBody>
      </p:sp>
      <p:sp>
        <p:nvSpPr>
          <p:cNvPr id="12" name="Rectangle 11"/>
          <p:cNvSpPr/>
          <p:nvPr/>
        </p:nvSpPr>
        <p:spPr>
          <a:xfrm>
            <a:off x="0" y="5643578"/>
            <a:ext cx="8715435" cy="1600438"/>
          </a:xfrm>
          <a:prstGeom prst="rect">
            <a:avLst/>
          </a:prstGeom>
        </p:spPr>
        <p:txBody>
          <a:bodyPr wrap="square">
            <a:spAutoFit/>
          </a:bodyPr>
          <a:lstStyle/>
          <a:p>
            <a:r>
              <a:rPr lang="fr-FR" sz="1600" i="1" dirty="0" smtClean="0"/>
              <a:t>Séquence 9 : L’ENERGIE AU SERVICE DES TERRITOIRES (</a:t>
            </a:r>
            <a:r>
              <a:rPr lang="fr-FR" sz="1600" dirty="0" smtClean="0"/>
              <a:t>Analyse fonctionnelle</a:t>
            </a:r>
            <a:r>
              <a:rPr lang="fr-FR" sz="1600" i="1" dirty="0" smtClean="0"/>
              <a:t>)</a:t>
            </a:r>
          </a:p>
          <a:p>
            <a:r>
              <a:rPr lang="fr-FR" sz="1600" i="1" dirty="0" smtClean="0"/>
              <a:t>Comment optimiser la gestion des ressources énergétiques ?</a:t>
            </a:r>
          </a:p>
          <a:p>
            <a:r>
              <a:rPr lang="fr-FR" sz="1600" b="1" dirty="0" smtClean="0"/>
              <a:t>Séquence 10 : L’HOMME AUGMENTE</a:t>
            </a:r>
          </a:p>
          <a:p>
            <a:r>
              <a:rPr lang="fr-FR" sz="1600" b="1" dirty="0" smtClean="0"/>
              <a:t>Comment améliorer et agrémenter le quotidien de l’homme?</a:t>
            </a:r>
          </a:p>
          <a:p>
            <a:r>
              <a:rPr lang="fr-FR" sz="1600" i="1" dirty="0" smtClean="0"/>
              <a:t>Séquence 11 : MOBILITES DES PERSONNES ET DES BIENS  (</a:t>
            </a:r>
            <a:r>
              <a:rPr lang="fr-FR" sz="1600" dirty="0" smtClean="0"/>
              <a:t>Validation des performances</a:t>
            </a:r>
            <a:r>
              <a:rPr lang="fr-FR" sz="1600" i="1" dirty="0" smtClean="0"/>
              <a:t>)</a:t>
            </a:r>
          </a:p>
          <a:p>
            <a:r>
              <a:rPr lang="fr-FR" sz="1600" i="1" dirty="0" smtClean="0"/>
              <a:t>Comment déterminer les actions mécaniques inconnues à partir d’un mouvement souhaité ?</a:t>
            </a:r>
            <a:endParaRPr lang="fr-FR" sz="1600" i="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1"/>
          <p:cNvSpPr>
            <a:spLocks noChangeArrowheads="1"/>
          </p:cNvSpPr>
          <p:nvPr/>
        </p:nvSpPr>
        <p:spPr bwMode="auto">
          <a:xfrm>
            <a:off x="0" y="0"/>
            <a:ext cx="8643966" cy="70788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2200" b="1" i="0" u="none" strike="noStrike" cap="none" normalizeH="0" baseline="0" dirty="0" smtClean="0">
                <a:ln>
                  <a:noFill/>
                </a:ln>
                <a:solidFill>
                  <a:schemeClr val="tx1"/>
                </a:solidFill>
                <a:effectLst/>
                <a:latin typeface="Arial" charset="0"/>
                <a:cs typeface="Arial" charset="0"/>
              </a:rPr>
              <a:t>Diapo 2 – Architecture de la séquence</a:t>
            </a:r>
            <a:endParaRPr kumimoji="0" lang="fr-FR" sz="1800" b="0" i="0" u="none" strike="noStrike" cap="none" normalizeH="0" baseline="0" dirty="0" smtClean="0">
              <a:ln>
                <a:noFill/>
              </a:ln>
              <a:solidFill>
                <a:schemeClr val="tx1"/>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sz="1800" b="0" i="0" u="none" strike="noStrike" cap="none" normalizeH="0" baseline="0" dirty="0" smtClean="0">
              <a:ln>
                <a:noFill/>
              </a:ln>
              <a:solidFill>
                <a:schemeClr val="tx1"/>
              </a:solidFill>
              <a:effectLst/>
              <a:latin typeface="Arial" charset="0"/>
              <a:cs typeface="Arial" charset="0"/>
            </a:endParaRPr>
          </a:p>
        </p:txBody>
      </p:sp>
      <p:graphicFrame>
        <p:nvGraphicFramePr>
          <p:cNvPr id="5" name="Tableau 4"/>
          <p:cNvGraphicFramePr>
            <a:graphicFrameLocks noGrp="1"/>
          </p:cNvGraphicFramePr>
          <p:nvPr/>
        </p:nvGraphicFramePr>
        <p:xfrm>
          <a:off x="285720" y="642918"/>
          <a:ext cx="8429684" cy="5869849"/>
        </p:xfrm>
        <a:graphic>
          <a:graphicData uri="http://schemas.openxmlformats.org/drawingml/2006/table">
            <a:tbl>
              <a:tblPr>
                <a:tableStyleId>{69C7853C-536D-4A76-A0AE-DD22124D55A5}</a:tableStyleId>
              </a:tblPr>
              <a:tblGrid>
                <a:gridCol w="1071570"/>
                <a:gridCol w="4929222"/>
                <a:gridCol w="2428892"/>
              </a:tblGrid>
              <a:tr h="369418">
                <a:tc>
                  <a:txBody>
                    <a:bodyPr/>
                    <a:lstStyle/>
                    <a:p>
                      <a:r>
                        <a:rPr lang="fr-FR" sz="1400" dirty="0">
                          <a:latin typeface="Arial" pitchFamily="34" charset="0"/>
                          <a:cs typeface="Arial" pitchFamily="34" charset="0"/>
                        </a:rPr>
                        <a:t>Séance</a:t>
                      </a:r>
                    </a:p>
                  </a:txBody>
                  <a:tcPr marL="17982" marR="17982" marT="8991" marB="8991" anchor="ctr"/>
                </a:tc>
                <a:tc>
                  <a:txBody>
                    <a:bodyPr/>
                    <a:lstStyle/>
                    <a:p>
                      <a:r>
                        <a:rPr lang="fr-FR" sz="1400" dirty="0">
                          <a:latin typeface="Arial" pitchFamily="34" charset="0"/>
                          <a:cs typeface="Arial" pitchFamily="34" charset="0"/>
                        </a:rPr>
                        <a:t>Objectif pédagogique</a:t>
                      </a:r>
                    </a:p>
                  </a:txBody>
                  <a:tcPr marL="17982" marR="17982" marT="8991" marB="8991" anchor="ctr"/>
                </a:tc>
                <a:tc>
                  <a:txBody>
                    <a:bodyPr/>
                    <a:lstStyle/>
                    <a:p>
                      <a:r>
                        <a:rPr lang="fr-FR" sz="1400">
                          <a:latin typeface="Arial" pitchFamily="34" charset="0"/>
                          <a:cs typeface="Arial" pitchFamily="34" charset="0"/>
                        </a:rPr>
                        <a:t>Capacités associées</a:t>
                      </a:r>
                    </a:p>
                  </a:txBody>
                  <a:tcPr marL="17982" marR="17982" marT="8991" marB="8991" anchor="ctr"/>
                </a:tc>
              </a:tr>
              <a:tr h="72389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400" dirty="0" smtClean="0">
                          <a:latin typeface="Arial" pitchFamily="34" charset="0"/>
                          <a:cs typeface="Arial" pitchFamily="34" charset="0"/>
                        </a:rPr>
                        <a:t>S1 </a:t>
                      </a:r>
                      <a:r>
                        <a:rPr lang="fr-FR" sz="1400" dirty="0" smtClean="0">
                          <a:latin typeface="Arial" pitchFamily="34" charset="0"/>
                          <a:cs typeface="Arial" pitchFamily="34" charset="0"/>
                        </a:rPr>
                        <a:t>Cours (1 h)</a:t>
                      </a:r>
                    </a:p>
                    <a:p>
                      <a:endParaRPr lang="fr-FR" sz="1400" dirty="0">
                        <a:latin typeface="Arial" pitchFamily="34" charset="0"/>
                        <a:cs typeface="Arial" pitchFamily="34" charset="0"/>
                      </a:endParaRPr>
                    </a:p>
                  </a:txBody>
                  <a:tcPr marL="17982" marR="17982" marT="8991" marB="8991" anchor="ctr"/>
                </a:tc>
                <a:tc>
                  <a:txBody>
                    <a:bodyPr/>
                    <a:lstStyle/>
                    <a:p>
                      <a:r>
                        <a:rPr lang="fr-FR" sz="1400" dirty="0">
                          <a:latin typeface="Arial" pitchFamily="34" charset="0"/>
                          <a:cs typeface="Arial" pitchFamily="34" charset="0"/>
                        </a:rPr>
                        <a:t>Évaluation </a:t>
                      </a:r>
                      <a:r>
                        <a:rPr lang="fr-FR" sz="1400" dirty="0" smtClean="0">
                          <a:latin typeface="Arial" pitchFamily="34" charset="0"/>
                          <a:cs typeface="Arial" pitchFamily="34" charset="0"/>
                        </a:rPr>
                        <a:t>diagnostique (10 mn) </a:t>
                      </a:r>
                      <a:r>
                        <a:rPr lang="fr-FR" sz="1400" dirty="0">
                          <a:latin typeface="Arial" pitchFamily="34" charset="0"/>
                          <a:cs typeface="Arial" pitchFamily="34" charset="0"/>
                        </a:rPr>
                        <a:t>et introduction de la notion de système asservi (consigne, sortie, erreur, perturbation).</a:t>
                      </a:r>
                    </a:p>
                  </a:txBody>
                  <a:tcPr marL="17982" marR="17982" marT="8991" marB="8991" anchor="ctr"/>
                </a:tc>
                <a:tc>
                  <a:txBody>
                    <a:bodyPr/>
                    <a:lstStyle/>
                    <a:p>
                      <a:r>
                        <a:rPr lang="fr-FR" sz="1400">
                          <a:latin typeface="Arial" pitchFamily="34" charset="0"/>
                          <a:cs typeface="Arial" pitchFamily="34" charset="0"/>
                        </a:rPr>
                        <a:t>Associer un modèle à un système asservi</a:t>
                      </a:r>
                    </a:p>
                  </a:txBody>
                  <a:tcPr marL="17982" marR="17982" marT="8991" marB="8991" anchor="ctr"/>
                </a:tc>
              </a:tr>
              <a:tr h="56632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400" dirty="0" smtClean="0">
                          <a:latin typeface="Arial" pitchFamily="34" charset="0"/>
                          <a:cs typeface="Arial" pitchFamily="34" charset="0"/>
                        </a:rPr>
                        <a:t>S2 </a:t>
                      </a:r>
                      <a:r>
                        <a:rPr lang="fr-FR" sz="1400" dirty="0" smtClean="0">
                          <a:latin typeface="Arial" pitchFamily="34" charset="0"/>
                          <a:cs typeface="Arial" pitchFamily="34" charset="0"/>
                        </a:rPr>
                        <a:t>TD (1 h)</a:t>
                      </a:r>
                    </a:p>
                    <a:p>
                      <a:endParaRPr lang="fr-FR" sz="1400" dirty="0">
                        <a:latin typeface="Arial" pitchFamily="34" charset="0"/>
                        <a:cs typeface="Arial" pitchFamily="34" charset="0"/>
                      </a:endParaRPr>
                    </a:p>
                  </a:txBody>
                  <a:tcPr marL="17982" marR="17982" marT="8991" marB="8991" anchor="ctr"/>
                </a:tc>
                <a:tc>
                  <a:txBody>
                    <a:bodyPr/>
                    <a:lstStyle/>
                    <a:p>
                      <a:r>
                        <a:rPr lang="fr-FR" sz="1400" dirty="0">
                          <a:latin typeface="Arial" pitchFamily="34" charset="0"/>
                          <a:cs typeface="Arial" pitchFamily="34" charset="0"/>
                        </a:rPr>
                        <a:t>Identifier les constituants d'une chaîne électromécanique et compléter un schéma-bloc fonctionnel.</a:t>
                      </a:r>
                    </a:p>
                  </a:txBody>
                  <a:tcPr marL="17982" marR="17982" marT="8991" marB="8991" anchor="ctr"/>
                </a:tc>
                <a:tc>
                  <a:txBody>
                    <a:bodyPr/>
                    <a:lstStyle/>
                    <a:p>
                      <a:r>
                        <a:rPr lang="fr-FR" sz="1400">
                          <a:latin typeface="Arial" pitchFamily="34" charset="0"/>
                          <a:cs typeface="Arial" pitchFamily="34" charset="0"/>
                        </a:rPr>
                        <a:t>Associer un modèle à un système asservi</a:t>
                      </a:r>
                    </a:p>
                  </a:txBody>
                  <a:tcPr marL="17982" marR="17982" marT="8991" marB="8991" anchor="ctr"/>
                </a:tc>
              </a:tr>
              <a:tr h="56632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400" dirty="0" smtClean="0">
                          <a:latin typeface="Arial" pitchFamily="34" charset="0"/>
                          <a:cs typeface="Arial" pitchFamily="34" charset="0"/>
                        </a:rPr>
                        <a:t>S3 </a:t>
                      </a:r>
                      <a:r>
                        <a:rPr lang="fr-FR" sz="1400" dirty="0" smtClean="0">
                          <a:latin typeface="Arial" pitchFamily="34" charset="0"/>
                          <a:cs typeface="Arial" pitchFamily="34" charset="0"/>
                        </a:rPr>
                        <a:t>TP (2 h)</a:t>
                      </a:r>
                    </a:p>
                    <a:p>
                      <a:endParaRPr lang="fr-FR" sz="1400" dirty="0">
                        <a:latin typeface="Arial" pitchFamily="34" charset="0"/>
                        <a:cs typeface="Arial" pitchFamily="34" charset="0"/>
                      </a:endParaRPr>
                    </a:p>
                  </a:txBody>
                  <a:tcPr marL="17982" marR="17982" marT="8991" marB="8991" anchor="ctr"/>
                </a:tc>
                <a:tc>
                  <a:txBody>
                    <a:bodyPr/>
                    <a:lstStyle/>
                    <a:p>
                      <a:r>
                        <a:rPr lang="fr-FR" sz="1400" dirty="0">
                          <a:latin typeface="Arial" pitchFamily="34" charset="0"/>
                          <a:cs typeface="Arial" pitchFamily="34" charset="0"/>
                        </a:rPr>
                        <a:t>Analyser le robot à câbles et identifier expérimentalement les grandeurs d'entrée et de sortie du système.</a:t>
                      </a:r>
                    </a:p>
                  </a:txBody>
                  <a:tcPr marL="17982" marR="17982" marT="8991" marB="8991" anchor="ctr"/>
                </a:tc>
                <a:tc>
                  <a:txBody>
                    <a:bodyPr/>
                    <a:lstStyle/>
                    <a:p>
                      <a:r>
                        <a:rPr lang="fr-FR" sz="1400">
                          <a:latin typeface="Arial" pitchFamily="34" charset="0"/>
                          <a:cs typeface="Arial" pitchFamily="34" charset="0"/>
                        </a:rPr>
                        <a:t>Associer un modèle à un système asservi</a:t>
                      </a:r>
                    </a:p>
                  </a:txBody>
                  <a:tcPr marL="17982" marR="17982" marT="8991" marB="8991" anchor="ctr"/>
                </a:tc>
              </a:tr>
              <a:tr h="72389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400" dirty="0" smtClean="0">
                          <a:latin typeface="Arial" pitchFamily="34" charset="0"/>
                          <a:cs typeface="Arial" pitchFamily="34" charset="0"/>
                        </a:rPr>
                        <a:t>S4 </a:t>
                      </a:r>
                      <a:r>
                        <a:rPr lang="fr-FR" sz="1400" dirty="0" smtClean="0">
                          <a:latin typeface="Arial" pitchFamily="34" charset="0"/>
                          <a:cs typeface="Arial" pitchFamily="34" charset="0"/>
                        </a:rPr>
                        <a:t>Cours (1 h)</a:t>
                      </a:r>
                    </a:p>
                    <a:p>
                      <a:endParaRPr lang="fr-FR" sz="1400" dirty="0">
                        <a:latin typeface="Arial" pitchFamily="34" charset="0"/>
                        <a:cs typeface="Arial" pitchFamily="34" charset="0"/>
                      </a:endParaRPr>
                    </a:p>
                  </a:txBody>
                  <a:tcPr marL="17982" marR="17982" marT="8991" marB="8991" anchor="ctr"/>
                </a:tc>
                <a:tc>
                  <a:txBody>
                    <a:bodyPr/>
                    <a:lstStyle/>
                    <a:p>
                      <a:r>
                        <a:rPr lang="fr-FR" sz="1400" dirty="0">
                          <a:latin typeface="Arial" pitchFamily="34" charset="0"/>
                          <a:cs typeface="Arial" pitchFamily="34" charset="0"/>
                        </a:rPr>
                        <a:t>Présenter le modèle de comportement et les critères de performance d'un système asservi.</a:t>
                      </a:r>
                    </a:p>
                  </a:txBody>
                  <a:tcPr marL="17982" marR="17982" marT="8991" marB="8991" anchor="ctr"/>
                </a:tc>
                <a:tc>
                  <a:txBody>
                    <a:bodyPr/>
                    <a:lstStyle/>
                    <a:p>
                      <a:r>
                        <a:rPr lang="fr-FR" sz="1400">
                          <a:latin typeface="Arial" pitchFamily="34" charset="0"/>
                          <a:cs typeface="Arial" pitchFamily="34" charset="0"/>
                        </a:rPr>
                        <a:t>Associer un modèle à un système asservi</a:t>
                      </a:r>
                    </a:p>
                  </a:txBody>
                  <a:tcPr marL="17982" marR="17982" marT="8991" marB="8991" anchor="ctr"/>
                </a:tc>
              </a:tr>
              <a:tr h="40129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400" dirty="0" smtClean="0">
                          <a:latin typeface="Arial" pitchFamily="34" charset="0"/>
                          <a:cs typeface="Arial" pitchFamily="34" charset="0"/>
                        </a:rPr>
                        <a:t>S5 </a:t>
                      </a:r>
                      <a:r>
                        <a:rPr lang="fr-FR" sz="1400" dirty="0" smtClean="0">
                          <a:latin typeface="Arial" pitchFamily="34" charset="0"/>
                          <a:cs typeface="Arial" pitchFamily="34" charset="0"/>
                        </a:rPr>
                        <a:t>TD (1 h)</a:t>
                      </a:r>
                    </a:p>
                  </a:txBody>
                  <a:tcPr marL="17982" marR="17982" marT="8991" marB="8991" anchor="ctr"/>
                </a:tc>
                <a:tc>
                  <a:txBody>
                    <a:bodyPr/>
                    <a:lstStyle/>
                    <a:p>
                      <a:r>
                        <a:rPr lang="fr-FR" sz="1400">
                          <a:latin typeface="Arial" pitchFamily="34" charset="0"/>
                          <a:cs typeface="Arial" pitchFamily="34" charset="0"/>
                        </a:rPr>
                        <a:t>Exploiter le modèle pour prévoir le comportement du robot à câbles.</a:t>
                      </a:r>
                    </a:p>
                  </a:txBody>
                  <a:tcPr marL="17982" marR="17982" marT="8991" marB="8991" anchor="ctr"/>
                </a:tc>
                <a:tc>
                  <a:txBody>
                    <a:bodyPr/>
                    <a:lstStyle/>
                    <a:p>
                      <a:r>
                        <a:rPr lang="fr-FR" sz="1400">
                          <a:latin typeface="Arial" pitchFamily="34" charset="0"/>
                          <a:cs typeface="Arial" pitchFamily="34" charset="0"/>
                        </a:rPr>
                        <a:t>Associer un modèle à un système asservi</a:t>
                      </a:r>
                    </a:p>
                  </a:txBody>
                  <a:tcPr marL="17982" marR="17982" marT="8991" marB="8991" anchor="ctr"/>
                </a:tc>
              </a:tr>
              <a:tr h="54665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400" dirty="0" smtClean="0">
                          <a:latin typeface="Arial" pitchFamily="34" charset="0"/>
                          <a:cs typeface="Arial" pitchFamily="34" charset="0"/>
                        </a:rPr>
                        <a:t>S6 </a:t>
                      </a:r>
                      <a:r>
                        <a:rPr lang="fr-FR" sz="1400" dirty="0" smtClean="0">
                          <a:latin typeface="Arial" pitchFamily="34" charset="0"/>
                          <a:cs typeface="Arial" pitchFamily="34" charset="0"/>
                        </a:rPr>
                        <a:t>TP (2 h)</a:t>
                      </a:r>
                    </a:p>
                  </a:txBody>
                  <a:tcPr marL="17982" marR="17982" marT="8991" marB="8991" anchor="ctr"/>
                </a:tc>
                <a:tc>
                  <a:txBody>
                    <a:bodyPr/>
                    <a:lstStyle/>
                    <a:p>
                      <a:r>
                        <a:rPr lang="fr-FR" sz="1400">
                          <a:latin typeface="Arial" pitchFamily="34" charset="0"/>
                          <a:cs typeface="Arial" pitchFamily="34" charset="0"/>
                        </a:rPr>
                        <a:t>Confronter les résultats du modèle aux mesures expérimentales et analyser les écarts.</a:t>
                      </a:r>
                    </a:p>
                  </a:txBody>
                  <a:tcPr marL="17982" marR="17982" marT="8991" marB="8991" anchor="ctr"/>
                </a:tc>
                <a:tc>
                  <a:txBody>
                    <a:bodyPr/>
                    <a:lstStyle/>
                    <a:p>
                      <a:r>
                        <a:rPr lang="fr-FR" sz="1400">
                          <a:latin typeface="Arial" pitchFamily="34" charset="0"/>
                          <a:cs typeface="Arial" pitchFamily="34" charset="0"/>
                        </a:rPr>
                        <a:t>Quantifier les performances d'un système à l'aide d'un modèle</a:t>
                      </a:r>
                    </a:p>
                  </a:txBody>
                  <a:tcPr marL="17982" marR="17982" marT="8991" marB="8991" anchor="ctr"/>
                </a:tc>
              </a:tr>
              <a:tr h="72389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400" dirty="0" smtClean="0">
                          <a:latin typeface="Arial" pitchFamily="34" charset="0"/>
                          <a:cs typeface="Arial" pitchFamily="34" charset="0"/>
                        </a:rPr>
                        <a:t>S7 </a:t>
                      </a:r>
                      <a:r>
                        <a:rPr lang="fr-FR" sz="1400" dirty="0" smtClean="0">
                          <a:latin typeface="Arial" pitchFamily="34" charset="0"/>
                          <a:cs typeface="Arial" pitchFamily="34" charset="0"/>
                        </a:rPr>
                        <a:t>Cours (1 h)</a:t>
                      </a:r>
                    </a:p>
                    <a:p>
                      <a:endParaRPr lang="fr-FR" sz="1400" dirty="0">
                        <a:latin typeface="Arial" pitchFamily="34" charset="0"/>
                        <a:cs typeface="Arial" pitchFamily="34" charset="0"/>
                      </a:endParaRPr>
                    </a:p>
                  </a:txBody>
                  <a:tcPr marL="17982" marR="17982" marT="8991" marB="8991" anchor="ctr"/>
                </a:tc>
                <a:tc>
                  <a:txBody>
                    <a:bodyPr/>
                    <a:lstStyle/>
                    <a:p>
                      <a:r>
                        <a:rPr lang="fr-FR" sz="1400">
                          <a:latin typeface="Arial" pitchFamily="34" charset="0"/>
                          <a:cs typeface="Arial" pitchFamily="34" charset="0"/>
                        </a:rPr>
                        <a:t>Synthèse et institutionnalisation : précision, rapidité, stabilité, influence du correcteur.</a:t>
                      </a:r>
                    </a:p>
                  </a:txBody>
                  <a:tcPr marL="17982" marR="17982" marT="8991" marB="8991" anchor="ctr"/>
                </a:tc>
                <a:tc>
                  <a:txBody>
                    <a:bodyPr/>
                    <a:lstStyle/>
                    <a:p>
                      <a:r>
                        <a:rPr lang="fr-FR" sz="1400">
                          <a:latin typeface="Arial" pitchFamily="34" charset="0"/>
                          <a:cs typeface="Arial" pitchFamily="34" charset="0"/>
                        </a:rPr>
                        <a:t>Consolidation des capacités visées</a:t>
                      </a:r>
                    </a:p>
                  </a:txBody>
                  <a:tcPr marL="17982" marR="17982" marT="8991" marB="8991" anchor="ctr"/>
                </a:tc>
              </a:tr>
              <a:tr h="54665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400" dirty="0" smtClean="0">
                          <a:latin typeface="Arial" pitchFamily="34" charset="0"/>
                          <a:cs typeface="Arial" pitchFamily="34" charset="0"/>
                        </a:rPr>
                        <a:t>S8 </a:t>
                      </a:r>
                      <a:r>
                        <a:rPr lang="fr-FR" sz="1400" dirty="0" smtClean="0">
                          <a:latin typeface="Arial" pitchFamily="34" charset="0"/>
                          <a:cs typeface="Arial" pitchFamily="34" charset="0"/>
                        </a:rPr>
                        <a:t>TD (1 h)</a:t>
                      </a:r>
                    </a:p>
                    <a:p>
                      <a:endParaRPr lang="fr-FR" sz="1400" dirty="0">
                        <a:latin typeface="Arial" pitchFamily="34" charset="0"/>
                        <a:cs typeface="Arial" pitchFamily="34" charset="0"/>
                      </a:endParaRPr>
                    </a:p>
                  </a:txBody>
                  <a:tcPr marL="17982" marR="17982" marT="8991" marB="8991" anchor="ctr"/>
                </a:tc>
                <a:tc>
                  <a:txBody>
                    <a:bodyPr/>
                    <a:lstStyle/>
                    <a:p>
                      <a:r>
                        <a:rPr lang="fr-FR" sz="1400">
                          <a:latin typeface="Arial" pitchFamily="34" charset="0"/>
                          <a:cs typeface="Arial" pitchFamily="34" charset="0"/>
                        </a:rPr>
                        <a:t>Évaluation sommative sur une nouvelle situation d'asservissement.</a:t>
                      </a:r>
                    </a:p>
                  </a:txBody>
                  <a:tcPr marL="17982" marR="17982" marT="8991" marB="8991" anchor="ctr"/>
                </a:tc>
                <a:tc>
                  <a:txBody>
                    <a:bodyPr/>
                    <a:lstStyle/>
                    <a:p>
                      <a:r>
                        <a:rPr lang="fr-FR" sz="1400">
                          <a:latin typeface="Arial" pitchFamily="34" charset="0"/>
                          <a:cs typeface="Arial" pitchFamily="34" charset="0"/>
                        </a:rPr>
                        <a:t>Évaluation des deux capacités</a:t>
                      </a:r>
                    </a:p>
                  </a:txBody>
                  <a:tcPr marL="17982" marR="17982" marT="8991" marB="8991" anchor="ctr"/>
                </a:tc>
              </a:tr>
              <a:tr h="54665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400" dirty="0" smtClean="0">
                          <a:latin typeface="Arial" pitchFamily="34" charset="0"/>
                          <a:cs typeface="Arial" pitchFamily="34" charset="0"/>
                        </a:rPr>
                        <a:t>S9 </a:t>
                      </a:r>
                      <a:r>
                        <a:rPr lang="fr-FR" sz="1400" dirty="0" smtClean="0">
                          <a:latin typeface="Arial" pitchFamily="34" charset="0"/>
                          <a:cs typeface="Arial" pitchFamily="34" charset="0"/>
                        </a:rPr>
                        <a:t>TP (2 h)</a:t>
                      </a:r>
                    </a:p>
                    <a:p>
                      <a:endParaRPr lang="fr-FR" sz="1400" dirty="0">
                        <a:latin typeface="Arial" pitchFamily="34" charset="0"/>
                        <a:cs typeface="Arial" pitchFamily="34" charset="0"/>
                      </a:endParaRPr>
                    </a:p>
                  </a:txBody>
                  <a:tcPr marL="17982" marR="17982" marT="8991" marB="8991" anchor="ctr"/>
                </a:tc>
                <a:tc>
                  <a:txBody>
                    <a:bodyPr/>
                    <a:lstStyle/>
                    <a:p>
                      <a:r>
                        <a:rPr lang="fr-FR" sz="1400">
                          <a:latin typeface="Arial" pitchFamily="34" charset="0"/>
                          <a:cs typeface="Arial" pitchFamily="34" charset="0"/>
                        </a:rPr>
                        <a:t>Remédiation ou approfondissement selon les résultats de l'évaluation.</a:t>
                      </a:r>
                    </a:p>
                  </a:txBody>
                  <a:tcPr marL="17982" marR="17982" marT="8991" marB="8991" anchor="ctr"/>
                </a:tc>
                <a:tc>
                  <a:txBody>
                    <a:bodyPr/>
                    <a:lstStyle/>
                    <a:p>
                      <a:r>
                        <a:rPr lang="fr-FR" sz="1400" dirty="0">
                          <a:latin typeface="Arial" pitchFamily="34" charset="0"/>
                          <a:cs typeface="Arial" pitchFamily="34" charset="0"/>
                        </a:rPr>
                        <a:t>Renforcement ciblé des capacités</a:t>
                      </a:r>
                    </a:p>
                  </a:txBody>
                  <a:tcPr marL="17982" marR="17982" marT="8991" marB="8991" anchor="ct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au 3"/>
          <p:cNvGraphicFramePr>
            <a:graphicFrameLocks noGrp="1"/>
          </p:cNvGraphicFramePr>
          <p:nvPr/>
        </p:nvGraphicFramePr>
        <p:xfrm>
          <a:off x="214282" y="571480"/>
          <a:ext cx="8572560" cy="2286000"/>
        </p:xfrm>
        <a:graphic>
          <a:graphicData uri="http://schemas.openxmlformats.org/drawingml/2006/table">
            <a:tbl>
              <a:tblPr>
                <a:tableStyleId>{69C7853C-536D-4A76-A0AE-DD22124D55A5}</a:tableStyleId>
              </a:tblPr>
              <a:tblGrid>
                <a:gridCol w="2143140"/>
                <a:gridCol w="6429420"/>
              </a:tblGrid>
              <a:tr h="0">
                <a:tc>
                  <a:txBody>
                    <a:bodyPr/>
                    <a:lstStyle/>
                    <a:p>
                      <a:r>
                        <a:rPr lang="fr-FR"/>
                        <a:t>Groupe</a:t>
                      </a:r>
                    </a:p>
                  </a:txBody>
                  <a:tcPr anchor="ctr"/>
                </a:tc>
                <a:tc>
                  <a:txBody>
                    <a:bodyPr/>
                    <a:lstStyle/>
                    <a:p>
                      <a:r>
                        <a:rPr lang="fr-FR"/>
                        <a:t>Activité</a:t>
                      </a:r>
                    </a:p>
                  </a:txBody>
                  <a:tcPr anchor="ctr"/>
                </a:tc>
              </a:tr>
              <a:tr h="0">
                <a:tc>
                  <a:txBody>
                    <a:bodyPr/>
                    <a:lstStyle/>
                    <a:p>
                      <a:r>
                        <a:rPr lang="fr-FR"/>
                        <a:t>Consolidation</a:t>
                      </a:r>
                    </a:p>
                  </a:txBody>
                  <a:tcPr anchor="ctr"/>
                </a:tc>
                <a:tc>
                  <a:txBody>
                    <a:bodyPr/>
                    <a:lstStyle/>
                    <a:p>
                      <a:r>
                        <a:rPr lang="fr-FR"/>
                        <a:t>Reprendre l'identification de la consigne, de la sortie et de l'erreur sur un système simple.</a:t>
                      </a:r>
                    </a:p>
                  </a:txBody>
                  <a:tcPr anchor="ctr"/>
                </a:tc>
              </a:tr>
              <a:tr h="0">
                <a:tc>
                  <a:txBody>
                    <a:bodyPr/>
                    <a:lstStyle/>
                    <a:p>
                      <a:r>
                        <a:rPr lang="fr-FR"/>
                        <a:t>Remédiation</a:t>
                      </a:r>
                    </a:p>
                  </a:txBody>
                  <a:tcPr anchor="ctr"/>
                </a:tc>
                <a:tc>
                  <a:txBody>
                    <a:bodyPr/>
                    <a:lstStyle/>
                    <a:p>
                      <a:r>
                        <a:rPr lang="fr-FR"/>
                        <a:t>Réaliser une nouvelle comparaison modèle/réel avec accompagnement.</a:t>
                      </a:r>
                    </a:p>
                  </a:txBody>
                  <a:tcPr anchor="ctr"/>
                </a:tc>
              </a:tr>
              <a:tr h="0">
                <a:tc>
                  <a:txBody>
                    <a:bodyPr/>
                    <a:lstStyle/>
                    <a:p>
                      <a:r>
                        <a:rPr lang="fr-FR"/>
                        <a:t>Approfondissement</a:t>
                      </a:r>
                    </a:p>
                  </a:txBody>
                  <a:tcPr anchor="ctr"/>
                </a:tc>
                <a:tc>
                  <a:txBody>
                    <a:bodyPr/>
                    <a:lstStyle/>
                    <a:p>
                      <a:r>
                        <a:rPr lang="fr-FR" dirty="0"/>
                        <a:t>Étudier l'influence d'un correcteur P puis PI sur la précision et la stabilité.</a:t>
                      </a:r>
                    </a:p>
                  </a:txBody>
                  <a:tcPr anchor="ct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42876" y="130710"/>
            <a:ext cx="8858280" cy="369332"/>
          </a:xfrm>
          <a:prstGeom prst="rect">
            <a:avLst/>
          </a:prstGeom>
        </p:spPr>
        <p:txBody>
          <a:bodyPr wrap="square">
            <a:spAutoFit/>
          </a:bodyPr>
          <a:lstStyle/>
          <a:p>
            <a:r>
              <a:rPr lang="fr-FR" dirty="0" smtClean="0"/>
              <a:t>Comment le réglage du correcteur influence-t-il les performances du robot à câbles ?</a:t>
            </a:r>
            <a:endParaRPr lang="fr-FR" dirty="0"/>
          </a:p>
        </p:txBody>
      </p:sp>
      <p:sp>
        <p:nvSpPr>
          <p:cNvPr id="5" name="Rectangle 4"/>
          <p:cNvSpPr/>
          <p:nvPr/>
        </p:nvSpPr>
        <p:spPr>
          <a:xfrm>
            <a:off x="285720" y="642918"/>
            <a:ext cx="4286280" cy="1569660"/>
          </a:xfrm>
          <a:prstGeom prst="rect">
            <a:avLst/>
          </a:prstGeom>
        </p:spPr>
        <p:txBody>
          <a:bodyPr wrap="square">
            <a:spAutoFit/>
          </a:bodyPr>
          <a:lstStyle/>
          <a:p>
            <a:r>
              <a:rPr lang="fr-FR" sz="1600" b="1" dirty="0" smtClean="0">
                <a:latin typeface="Arial" pitchFamily="34" charset="0"/>
                <a:cs typeface="Arial" pitchFamily="34" charset="0"/>
              </a:rPr>
              <a:t>Situation problème</a:t>
            </a:r>
          </a:p>
          <a:p>
            <a:r>
              <a:rPr lang="fr-FR" sz="1600" dirty="0" smtClean="0">
                <a:latin typeface="Arial" pitchFamily="34" charset="0"/>
                <a:cs typeface="Arial" pitchFamily="34" charset="0"/>
              </a:rPr>
              <a:t>Le robot doit atteindre une position imposée.</a:t>
            </a:r>
          </a:p>
          <a:p>
            <a:r>
              <a:rPr lang="fr-FR" sz="1600" dirty="0" smtClean="0">
                <a:latin typeface="Arial" pitchFamily="34" charset="0"/>
                <a:cs typeface="Arial" pitchFamily="34" charset="0"/>
              </a:rPr>
              <a:t>Le constructeur souhaite :</a:t>
            </a:r>
          </a:p>
          <a:p>
            <a:r>
              <a:rPr lang="fr-FR" sz="1600" dirty="0" smtClean="0">
                <a:latin typeface="Arial" pitchFamily="34" charset="0"/>
                <a:cs typeface="Arial" pitchFamily="34" charset="0"/>
              </a:rPr>
              <a:t>erreur statique faible ; </a:t>
            </a:r>
          </a:p>
          <a:p>
            <a:r>
              <a:rPr lang="fr-FR" sz="1600" dirty="0" smtClean="0">
                <a:latin typeface="Arial" pitchFamily="34" charset="0"/>
                <a:cs typeface="Arial" pitchFamily="34" charset="0"/>
              </a:rPr>
              <a:t>temps de réponse court ; </a:t>
            </a:r>
          </a:p>
          <a:p>
            <a:r>
              <a:rPr lang="fr-FR" sz="1600" dirty="0" smtClean="0">
                <a:latin typeface="Arial" pitchFamily="34" charset="0"/>
                <a:cs typeface="Arial" pitchFamily="34" charset="0"/>
              </a:rPr>
              <a:t>système stable. </a:t>
            </a:r>
            <a:endParaRPr lang="fr-FR" sz="1600" dirty="0">
              <a:latin typeface="Arial" pitchFamily="34" charset="0"/>
              <a:cs typeface="Arial" pitchFamily="34" charset="0"/>
            </a:endParaRPr>
          </a:p>
        </p:txBody>
      </p:sp>
      <p:sp>
        <p:nvSpPr>
          <p:cNvPr id="34817" name="Rectangle 1"/>
          <p:cNvSpPr>
            <a:spLocks noChangeArrowheads="1"/>
          </p:cNvSpPr>
          <p:nvPr/>
        </p:nvSpPr>
        <p:spPr bwMode="auto">
          <a:xfrm>
            <a:off x="285720" y="2357430"/>
            <a:ext cx="3357586" cy="206210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dirty="0" smtClean="0">
                <a:ln>
                  <a:noFill/>
                </a:ln>
                <a:solidFill>
                  <a:schemeClr val="tx1"/>
                </a:solidFill>
                <a:effectLst/>
                <a:latin typeface="Arial" pitchFamily="34" charset="0"/>
                <a:cs typeface="Arial" pitchFamily="34" charset="0"/>
              </a:rPr>
              <a:t>Activité 1 : Observation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latin typeface="Arial" pitchFamily="34" charset="0"/>
                <a:cs typeface="Arial" pitchFamily="34" charset="0"/>
              </a:rPr>
              <a:t>On applique une consigne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latin typeface="Arial" pitchFamily="34" charset="0"/>
                <a:cs typeface="Arial" pitchFamily="34" charset="0"/>
              </a:rPr>
              <a:t>Exemple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latin typeface="Arial" pitchFamily="34" charset="0"/>
                <a:cs typeface="Arial" pitchFamily="34" charset="0"/>
              </a:rPr>
              <a:t>Position demandée = 500 mm</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latin typeface="Arial" pitchFamily="34" charset="0"/>
                <a:cs typeface="Arial" pitchFamily="34" charset="0"/>
              </a:rPr>
              <a:t>Les élèves observent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0" i="0" u="none" strike="noStrike" cap="none" normalizeH="0" baseline="0" dirty="0" smtClean="0">
                <a:ln>
                  <a:noFill/>
                </a:ln>
                <a:solidFill>
                  <a:schemeClr val="tx1"/>
                </a:solidFill>
                <a:effectLst/>
                <a:latin typeface="Arial" pitchFamily="34" charset="0"/>
                <a:cs typeface="Arial" pitchFamily="34" charset="0"/>
              </a:rPr>
              <a:t>position réelle ;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sz="1600" b="0" i="0" u="none" strike="noStrike" cap="none" normalizeH="0" baseline="0" dirty="0" smtClean="0">
                <a:ln>
                  <a:noFill/>
                </a:ln>
                <a:solidFill>
                  <a:schemeClr val="tx1"/>
                </a:solidFill>
                <a:effectLst/>
                <a:latin typeface="Arial" pitchFamily="34" charset="0"/>
                <a:cs typeface="Arial" pitchFamily="34" charset="0"/>
              </a:rPr>
              <a:t>évolution temporelle.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sz="1600" b="0" i="0" u="none" strike="noStrike" cap="none" normalizeH="0" baseline="0" dirty="0" smtClean="0">
              <a:ln>
                <a:noFill/>
              </a:ln>
              <a:solidFill>
                <a:schemeClr val="tx1"/>
              </a:solidFill>
              <a:effectLst/>
              <a:latin typeface="Arial" pitchFamily="34" charset="0"/>
              <a:cs typeface="Arial" pitchFamily="34" charset="0"/>
            </a:endParaRPr>
          </a:p>
        </p:txBody>
      </p:sp>
      <p:sp>
        <p:nvSpPr>
          <p:cNvPr id="34818" name="Rectangle 2"/>
          <p:cNvSpPr>
            <a:spLocks noChangeArrowheads="1"/>
          </p:cNvSpPr>
          <p:nvPr/>
        </p:nvSpPr>
        <p:spPr bwMode="auto">
          <a:xfrm>
            <a:off x="357158" y="4286256"/>
            <a:ext cx="2571768" cy="206210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dirty="0" smtClean="0">
                <a:ln>
                  <a:noFill/>
                </a:ln>
                <a:solidFill>
                  <a:schemeClr val="tx1"/>
                </a:solidFill>
                <a:effectLst/>
                <a:latin typeface="Arial" pitchFamily="34" charset="0"/>
                <a:cs typeface="Arial" pitchFamily="34" charset="0"/>
              </a:rPr>
              <a:t>Activité 2 : Correcteur P</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latin typeface="Arial" pitchFamily="34" charset="0"/>
                <a:cs typeface="Arial" pitchFamily="34" charset="0"/>
              </a:rPr>
              <a:t>Valeurs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err="1" smtClean="0">
                <a:ln>
                  <a:noFill/>
                </a:ln>
                <a:solidFill>
                  <a:schemeClr val="tx1"/>
                </a:solidFill>
                <a:effectLst/>
                <a:latin typeface="Arial" pitchFamily="34" charset="0"/>
                <a:cs typeface="Arial" pitchFamily="34" charset="0"/>
              </a:rPr>
              <a:t>Kp</a:t>
            </a:r>
            <a:r>
              <a:rPr kumimoji="0" lang="fr-FR" sz="1600" b="0" i="0" u="none" strike="noStrike" cap="none" normalizeH="0" baseline="0" dirty="0" smtClean="0">
                <a:ln>
                  <a:noFill/>
                </a:ln>
                <a:solidFill>
                  <a:schemeClr val="tx1"/>
                </a:solidFill>
                <a:effectLst/>
                <a:latin typeface="Arial" pitchFamily="34" charset="0"/>
                <a:cs typeface="Arial" pitchFamily="34" charset="0"/>
              </a:rPr>
              <a:t> = 0.5</a:t>
            </a:r>
            <a:br>
              <a:rPr kumimoji="0" lang="fr-FR" sz="1600" b="0" i="0" u="none" strike="noStrike" cap="none" normalizeH="0" baseline="0" dirty="0" smtClean="0">
                <a:ln>
                  <a:noFill/>
                </a:ln>
                <a:solidFill>
                  <a:schemeClr val="tx1"/>
                </a:solidFill>
                <a:effectLst/>
                <a:latin typeface="Arial" pitchFamily="34" charset="0"/>
                <a:cs typeface="Arial" pitchFamily="34" charset="0"/>
              </a:rPr>
            </a:br>
            <a:r>
              <a:rPr kumimoji="0" lang="fr-FR" sz="1600" b="0" i="0" u="none" strike="noStrike" cap="none" normalizeH="0" baseline="0" dirty="0" err="1" smtClean="0">
                <a:ln>
                  <a:noFill/>
                </a:ln>
                <a:solidFill>
                  <a:schemeClr val="tx1"/>
                </a:solidFill>
                <a:effectLst/>
                <a:latin typeface="Arial" pitchFamily="34" charset="0"/>
                <a:cs typeface="Arial" pitchFamily="34" charset="0"/>
              </a:rPr>
              <a:t>Kp</a:t>
            </a:r>
            <a:r>
              <a:rPr kumimoji="0" lang="fr-FR" sz="1600" b="0" i="0" u="none" strike="noStrike" cap="none" normalizeH="0" baseline="0" dirty="0" smtClean="0">
                <a:ln>
                  <a:noFill/>
                </a:ln>
                <a:solidFill>
                  <a:schemeClr val="tx1"/>
                </a:solidFill>
                <a:effectLst/>
                <a:latin typeface="Arial" pitchFamily="34" charset="0"/>
                <a:cs typeface="Arial" pitchFamily="34" charset="0"/>
              </a:rPr>
              <a:t> = 1</a:t>
            </a:r>
            <a:br>
              <a:rPr kumimoji="0" lang="fr-FR" sz="1600" b="0" i="0" u="none" strike="noStrike" cap="none" normalizeH="0" baseline="0" dirty="0" smtClean="0">
                <a:ln>
                  <a:noFill/>
                </a:ln>
                <a:solidFill>
                  <a:schemeClr val="tx1"/>
                </a:solidFill>
                <a:effectLst/>
                <a:latin typeface="Arial" pitchFamily="34" charset="0"/>
                <a:cs typeface="Arial" pitchFamily="34" charset="0"/>
              </a:rPr>
            </a:br>
            <a:r>
              <a:rPr kumimoji="0" lang="fr-FR" sz="1600" b="0" i="0" u="none" strike="noStrike" cap="none" normalizeH="0" baseline="0" dirty="0" err="1" smtClean="0">
                <a:ln>
                  <a:noFill/>
                </a:ln>
                <a:solidFill>
                  <a:schemeClr val="tx1"/>
                </a:solidFill>
                <a:effectLst/>
                <a:latin typeface="Arial" pitchFamily="34" charset="0"/>
                <a:cs typeface="Arial" pitchFamily="34" charset="0"/>
              </a:rPr>
              <a:t>Kp</a:t>
            </a:r>
            <a:r>
              <a:rPr kumimoji="0" lang="fr-FR" sz="1600" b="0" i="0" u="none" strike="noStrike" cap="none" normalizeH="0" baseline="0" dirty="0" smtClean="0">
                <a:ln>
                  <a:noFill/>
                </a:ln>
                <a:solidFill>
                  <a:schemeClr val="tx1"/>
                </a:solidFill>
                <a:effectLst/>
                <a:latin typeface="Arial" pitchFamily="34" charset="0"/>
                <a:cs typeface="Arial" pitchFamily="34" charset="0"/>
              </a:rPr>
              <a:t> = 2</a:t>
            </a:r>
            <a:br>
              <a:rPr kumimoji="0" lang="fr-FR" sz="1600" b="0" i="0" u="none" strike="noStrike" cap="none" normalizeH="0" baseline="0" dirty="0" smtClean="0">
                <a:ln>
                  <a:noFill/>
                </a:ln>
                <a:solidFill>
                  <a:schemeClr val="tx1"/>
                </a:solidFill>
                <a:effectLst/>
                <a:latin typeface="Arial" pitchFamily="34" charset="0"/>
                <a:cs typeface="Arial" pitchFamily="34" charset="0"/>
              </a:rPr>
            </a:br>
            <a:r>
              <a:rPr kumimoji="0" lang="fr-FR" sz="1600" b="0" i="0" u="none" strike="noStrike" cap="none" normalizeH="0" baseline="0" dirty="0" err="1" smtClean="0">
                <a:ln>
                  <a:noFill/>
                </a:ln>
                <a:solidFill>
                  <a:schemeClr val="tx1"/>
                </a:solidFill>
                <a:effectLst/>
                <a:latin typeface="Arial" pitchFamily="34" charset="0"/>
                <a:cs typeface="Arial" pitchFamily="34" charset="0"/>
              </a:rPr>
              <a:t>Kp</a:t>
            </a:r>
            <a:r>
              <a:rPr kumimoji="0" lang="fr-FR" sz="1600" b="0" i="0" u="none" strike="noStrike" cap="none" normalizeH="0" baseline="0" dirty="0" smtClean="0">
                <a:ln>
                  <a:noFill/>
                </a:ln>
                <a:solidFill>
                  <a:schemeClr val="tx1"/>
                </a:solidFill>
                <a:effectLst/>
                <a:latin typeface="Arial" pitchFamily="34" charset="0"/>
                <a:cs typeface="Arial" pitchFamily="34" charset="0"/>
              </a:rPr>
              <a:t> = 5</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latin typeface="Arial" pitchFamily="34" charset="0"/>
                <a:cs typeface="Arial" pitchFamily="34" charset="0"/>
              </a:rPr>
              <a:t>Les élèves mesurent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sz="1600" b="0" i="0" u="none" strike="noStrike" cap="none" normalizeH="0" baseline="0" dirty="0" smtClean="0">
              <a:ln>
                <a:noFill/>
              </a:ln>
              <a:solidFill>
                <a:schemeClr val="tx1"/>
              </a:solidFill>
              <a:effectLst/>
              <a:latin typeface="Arial" pitchFamily="34" charset="0"/>
              <a:cs typeface="Arial" pitchFamily="34" charset="0"/>
            </a:endParaRPr>
          </a:p>
        </p:txBody>
      </p:sp>
      <p:graphicFrame>
        <p:nvGraphicFramePr>
          <p:cNvPr id="9" name="Tableau 8"/>
          <p:cNvGraphicFramePr>
            <a:graphicFrameLocks noGrp="1"/>
          </p:cNvGraphicFramePr>
          <p:nvPr/>
        </p:nvGraphicFramePr>
        <p:xfrm>
          <a:off x="2928926" y="4529158"/>
          <a:ext cx="5881718" cy="1828800"/>
        </p:xfrm>
        <a:graphic>
          <a:graphicData uri="http://schemas.openxmlformats.org/drawingml/2006/table">
            <a:tbl>
              <a:tblPr>
                <a:tableStyleId>{616DA210-FB5B-4158-B5E0-FEB733F419BA}</a:tableStyleId>
              </a:tblPr>
              <a:tblGrid>
                <a:gridCol w="523868"/>
                <a:gridCol w="1928826"/>
                <a:gridCol w="1500198"/>
                <a:gridCol w="1928826"/>
              </a:tblGrid>
              <a:tr h="0">
                <a:tc>
                  <a:txBody>
                    <a:bodyPr/>
                    <a:lstStyle/>
                    <a:p>
                      <a:r>
                        <a:rPr lang="fr-FR"/>
                        <a:t>Kp</a:t>
                      </a:r>
                    </a:p>
                  </a:txBody>
                  <a:tcPr anchor="ctr"/>
                </a:tc>
                <a:tc>
                  <a:txBody>
                    <a:bodyPr/>
                    <a:lstStyle/>
                    <a:p>
                      <a:r>
                        <a:rPr lang="fr-FR"/>
                        <a:t>Temps de réponse</a:t>
                      </a:r>
                    </a:p>
                  </a:txBody>
                  <a:tcPr anchor="ctr"/>
                </a:tc>
                <a:tc>
                  <a:txBody>
                    <a:bodyPr/>
                    <a:lstStyle/>
                    <a:p>
                      <a:r>
                        <a:rPr lang="fr-FR"/>
                        <a:t>Dépassement</a:t>
                      </a:r>
                    </a:p>
                  </a:txBody>
                  <a:tcPr anchor="ctr"/>
                </a:tc>
                <a:tc>
                  <a:txBody>
                    <a:bodyPr/>
                    <a:lstStyle/>
                    <a:p>
                      <a:r>
                        <a:rPr lang="fr-FR"/>
                        <a:t>Erreur finale</a:t>
                      </a:r>
                    </a:p>
                  </a:txBody>
                  <a:tcPr anchor="ctr"/>
                </a:tc>
              </a:tr>
              <a:tr h="0">
                <a:tc>
                  <a:txBody>
                    <a:bodyPr/>
                    <a:lstStyle/>
                    <a:p>
                      <a:r>
                        <a:rPr lang="fr-FR"/>
                        <a:t>0.5</a:t>
                      </a:r>
                    </a:p>
                  </a:txBody>
                  <a:tcPr anchor="ctr"/>
                </a:tc>
                <a:tc>
                  <a:txBody>
                    <a:bodyPr/>
                    <a:lstStyle/>
                    <a:p>
                      <a:endParaRPr lang="fr-FR"/>
                    </a:p>
                  </a:txBody>
                  <a:tcPr anchor="ctr"/>
                </a:tc>
                <a:tc>
                  <a:txBody>
                    <a:bodyPr/>
                    <a:lstStyle/>
                    <a:p>
                      <a:endParaRPr lang="fr-FR"/>
                    </a:p>
                  </a:txBody>
                  <a:tcPr anchor="ctr"/>
                </a:tc>
                <a:tc>
                  <a:txBody>
                    <a:bodyPr/>
                    <a:lstStyle/>
                    <a:p>
                      <a:endParaRPr lang="fr-FR"/>
                    </a:p>
                  </a:txBody>
                  <a:tcPr anchor="ctr"/>
                </a:tc>
              </a:tr>
              <a:tr h="0">
                <a:tc>
                  <a:txBody>
                    <a:bodyPr/>
                    <a:lstStyle/>
                    <a:p>
                      <a:r>
                        <a:rPr lang="fr-FR"/>
                        <a:t>1</a:t>
                      </a:r>
                    </a:p>
                  </a:txBody>
                  <a:tcPr anchor="ctr"/>
                </a:tc>
                <a:tc>
                  <a:txBody>
                    <a:bodyPr/>
                    <a:lstStyle/>
                    <a:p>
                      <a:endParaRPr lang="fr-FR"/>
                    </a:p>
                  </a:txBody>
                  <a:tcPr anchor="ctr"/>
                </a:tc>
                <a:tc>
                  <a:txBody>
                    <a:bodyPr/>
                    <a:lstStyle/>
                    <a:p>
                      <a:endParaRPr lang="fr-FR"/>
                    </a:p>
                  </a:txBody>
                  <a:tcPr anchor="ctr"/>
                </a:tc>
                <a:tc>
                  <a:txBody>
                    <a:bodyPr/>
                    <a:lstStyle/>
                    <a:p>
                      <a:endParaRPr lang="fr-FR"/>
                    </a:p>
                  </a:txBody>
                  <a:tcPr anchor="ctr"/>
                </a:tc>
              </a:tr>
              <a:tr h="0">
                <a:tc>
                  <a:txBody>
                    <a:bodyPr/>
                    <a:lstStyle/>
                    <a:p>
                      <a:r>
                        <a:rPr lang="fr-FR"/>
                        <a:t>2</a:t>
                      </a:r>
                    </a:p>
                  </a:txBody>
                  <a:tcPr anchor="ctr"/>
                </a:tc>
                <a:tc>
                  <a:txBody>
                    <a:bodyPr/>
                    <a:lstStyle/>
                    <a:p>
                      <a:endParaRPr lang="fr-FR"/>
                    </a:p>
                  </a:txBody>
                  <a:tcPr anchor="ctr"/>
                </a:tc>
                <a:tc>
                  <a:txBody>
                    <a:bodyPr/>
                    <a:lstStyle/>
                    <a:p>
                      <a:endParaRPr lang="fr-FR"/>
                    </a:p>
                  </a:txBody>
                  <a:tcPr anchor="ctr"/>
                </a:tc>
                <a:tc>
                  <a:txBody>
                    <a:bodyPr/>
                    <a:lstStyle/>
                    <a:p>
                      <a:endParaRPr lang="fr-FR"/>
                    </a:p>
                  </a:txBody>
                  <a:tcPr anchor="ctr"/>
                </a:tc>
              </a:tr>
              <a:tr h="0">
                <a:tc>
                  <a:txBody>
                    <a:bodyPr/>
                    <a:lstStyle/>
                    <a:p>
                      <a:r>
                        <a:rPr lang="fr-FR"/>
                        <a:t>5</a:t>
                      </a:r>
                    </a:p>
                  </a:txBody>
                  <a:tcPr anchor="ctr"/>
                </a:tc>
                <a:tc>
                  <a:txBody>
                    <a:bodyPr/>
                    <a:lstStyle/>
                    <a:p>
                      <a:endParaRPr lang="fr-FR"/>
                    </a:p>
                  </a:txBody>
                  <a:tcPr anchor="ctr"/>
                </a:tc>
                <a:tc>
                  <a:txBody>
                    <a:bodyPr/>
                    <a:lstStyle/>
                    <a:p>
                      <a:endParaRPr lang="fr-FR"/>
                    </a:p>
                  </a:txBody>
                  <a:tcPr anchor="ctr"/>
                </a:tc>
                <a:tc>
                  <a:txBody>
                    <a:bodyPr/>
                    <a:lstStyle/>
                    <a:p>
                      <a:endParaRPr lang="fr-FR" dirty="0"/>
                    </a:p>
                  </a:txBody>
                  <a:tcPr anchor="ctr"/>
                </a:tc>
              </a:tr>
            </a:tbl>
          </a:graphicData>
        </a:graphic>
      </p:graphicFrame>
      <p:sp>
        <p:nvSpPr>
          <p:cNvPr id="10" name="Rectangle 9"/>
          <p:cNvSpPr/>
          <p:nvPr/>
        </p:nvSpPr>
        <p:spPr>
          <a:xfrm>
            <a:off x="4786314" y="4071942"/>
            <a:ext cx="2199128" cy="369332"/>
          </a:xfrm>
          <a:prstGeom prst="rect">
            <a:avLst/>
          </a:prstGeom>
        </p:spPr>
        <p:txBody>
          <a:bodyPr wrap="none">
            <a:spAutoFit/>
          </a:bodyPr>
          <a:lstStyle/>
          <a:p>
            <a:r>
              <a:rPr lang="fr-FR" dirty="0" smtClean="0"/>
              <a:t>Les élèves mesurent :</a:t>
            </a:r>
            <a:endParaRPr lang="fr-FR" dirty="0"/>
          </a:p>
        </p:txBody>
      </p:sp>
      <p:sp>
        <p:nvSpPr>
          <p:cNvPr id="11" name="Rectangle 10"/>
          <p:cNvSpPr/>
          <p:nvPr/>
        </p:nvSpPr>
        <p:spPr>
          <a:xfrm>
            <a:off x="5143504" y="857232"/>
            <a:ext cx="3643338" cy="2585323"/>
          </a:xfrm>
          <a:prstGeom prst="rect">
            <a:avLst/>
          </a:prstGeom>
        </p:spPr>
        <p:txBody>
          <a:bodyPr wrap="square">
            <a:spAutoFit/>
          </a:bodyPr>
          <a:lstStyle/>
          <a:p>
            <a:r>
              <a:rPr lang="fr-FR" b="1" dirty="0" smtClean="0"/>
              <a:t>Activité 3 : Analyse</a:t>
            </a:r>
          </a:p>
          <a:p>
            <a:r>
              <a:rPr lang="fr-FR" dirty="0" smtClean="0"/>
              <a:t>Questions :</a:t>
            </a:r>
          </a:p>
          <a:p>
            <a:r>
              <a:rPr lang="fr-FR" b="1" dirty="0" smtClean="0"/>
              <a:t>Quand </a:t>
            </a:r>
            <a:r>
              <a:rPr lang="fr-FR" b="1" dirty="0" err="1" smtClean="0"/>
              <a:t>Kp</a:t>
            </a:r>
            <a:r>
              <a:rPr lang="fr-FR" b="1" dirty="0" smtClean="0"/>
              <a:t> augmente :</a:t>
            </a:r>
          </a:p>
          <a:p>
            <a:r>
              <a:rPr lang="fr-FR" dirty="0" smtClean="0"/>
              <a:t>que devient l'erreur ? </a:t>
            </a:r>
          </a:p>
          <a:p>
            <a:r>
              <a:rPr lang="fr-FR" dirty="0" smtClean="0"/>
              <a:t>que devient le temps de réponse ? </a:t>
            </a:r>
          </a:p>
          <a:p>
            <a:r>
              <a:rPr lang="fr-FR" dirty="0" smtClean="0"/>
              <a:t>Les élèves constatent généralement :</a:t>
            </a:r>
          </a:p>
          <a:p>
            <a:r>
              <a:rPr lang="fr-FR" dirty="0" smtClean="0"/>
              <a:t>meilleure précision ; </a:t>
            </a:r>
          </a:p>
          <a:p>
            <a:r>
              <a:rPr lang="fr-FR" dirty="0" smtClean="0"/>
              <a:t>réponse plus rapide ; </a:t>
            </a:r>
          </a:p>
          <a:p>
            <a:r>
              <a:rPr lang="fr-FR" dirty="0" smtClean="0"/>
              <a:t>risque d'oscillations.</a:t>
            </a:r>
            <a:endParaRPr lang="fr-FR"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42876" y="130710"/>
            <a:ext cx="8858280" cy="369332"/>
          </a:xfrm>
          <a:prstGeom prst="rect">
            <a:avLst/>
          </a:prstGeom>
        </p:spPr>
        <p:txBody>
          <a:bodyPr wrap="square">
            <a:spAutoFit/>
          </a:bodyPr>
          <a:lstStyle/>
          <a:p>
            <a:r>
              <a:rPr lang="fr-FR" dirty="0" smtClean="0"/>
              <a:t>Comment le réglage du correcteur influence-t-il les performances du robot à câbles ?</a:t>
            </a:r>
            <a:endParaRPr lang="fr-FR" dirty="0"/>
          </a:p>
        </p:txBody>
      </p:sp>
      <p:sp>
        <p:nvSpPr>
          <p:cNvPr id="12" name="Rectangle 11"/>
          <p:cNvSpPr/>
          <p:nvPr/>
        </p:nvSpPr>
        <p:spPr>
          <a:xfrm>
            <a:off x="357158" y="1214422"/>
            <a:ext cx="4572000" cy="923330"/>
          </a:xfrm>
          <a:prstGeom prst="rect">
            <a:avLst/>
          </a:prstGeom>
        </p:spPr>
        <p:txBody>
          <a:bodyPr>
            <a:spAutoFit/>
          </a:bodyPr>
          <a:lstStyle/>
          <a:p>
            <a:r>
              <a:rPr lang="fr-FR" b="1" dirty="0" smtClean="0"/>
              <a:t>Activité 4 : PI</a:t>
            </a:r>
          </a:p>
          <a:p>
            <a:r>
              <a:rPr lang="fr-FR" dirty="0" smtClean="0"/>
              <a:t>On active l'intégrateur.</a:t>
            </a:r>
          </a:p>
          <a:p>
            <a:r>
              <a:rPr lang="fr-FR" dirty="0" smtClean="0"/>
              <a:t>Comparaison :</a:t>
            </a:r>
            <a:endParaRPr lang="fr-FR" dirty="0"/>
          </a:p>
        </p:txBody>
      </p:sp>
      <p:graphicFrame>
        <p:nvGraphicFramePr>
          <p:cNvPr id="13" name="Tableau 12"/>
          <p:cNvGraphicFramePr>
            <a:graphicFrameLocks noGrp="1"/>
          </p:cNvGraphicFramePr>
          <p:nvPr/>
        </p:nvGraphicFramePr>
        <p:xfrm>
          <a:off x="3048000" y="1142984"/>
          <a:ext cx="3881454" cy="1097280"/>
        </p:xfrm>
        <a:graphic>
          <a:graphicData uri="http://schemas.openxmlformats.org/drawingml/2006/table">
            <a:tbl>
              <a:tblPr>
                <a:tableStyleId>{69C7853C-536D-4A76-A0AE-DD22124D55A5}</a:tableStyleId>
              </a:tblPr>
              <a:tblGrid>
                <a:gridCol w="1666876"/>
                <a:gridCol w="2214578"/>
              </a:tblGrid>
              <a:tr h="0">
                <a:tc>
                  <a:txBody>
                    <a:bodyPr/>
                    <a:lstStyle/>
                    <a:p>
                      <a:r>
                        <a:rPr lang="fr-FR"/>
                        <a:t>Correcteur</a:t>
                      </a:r>
                    </a:p>
                  </a:txBody>
                  <a:tcPr anchor="ctr"/>
                </a:tc>
                <a:tc>
                  <a:txBody>
                    <a:bodyPr/>
                    <a:lstStyle/>
                    <a:p>
                      <a:r>
                        <a:rPr lang="fr-FR"/>
                        <a:t>Erreur statique</a:t>
                      </a:r>
                    </a:p>
                  </a:txBody>
                  <a:tcPr anchor="ctr"/>
                </a:tc>
              </a:tr>
              <a:tr h="0">
                <a:tc>
                  <a:txBody>
                    <a:bodyPr/>
                    <a:lstStyle/>
                    <a:p>
                      <a:r>
                        <a:rPr lang="fr-FR"/>
                        <a:t>P</a:t>
                      </a:r>
                    </a:p>
                  </a:txBody>
                  <a:tcPr anchor="ctr"/>
                </a:tc>
                <a:tc>
                  <a:txBody>
                    <a:bodyPr/>
                    <a:lstStyle/>
                    <a:p>
                      <a:endParaRPr lang="fr-FR"/>
                    </a:p>
                  </a:txBody>
                  <a:tcPr anchor="ctr"/>
                </a:tc>
              </a:tr>
              <a:tr h="0">
                <a:tc>
                  <a:txBody>
                    <a:bodyPr/>
                    <a:lstStyle/>
                    <a:p>
                      <a:r>
                        <a:rPr lang="fr-FR"/>
                        <a:t>PI</a:t>
                      </a:r>
                    </a:p>
                  </a:txBody>
                  <a:tcPr anchor="ctr"/>
                </a:tc>
                <a:tc>
                  <a:txBody>
                    <a:bodyPr/>
                    <a:lstStyle/>
                    <a:p>
                      <a:endParaRPr lang="fr-FR" dirty="0"/>
                    </a:p>
                  </a:txBody>
                  <a:tcPr anchor="ctr"/>
                </a:tc>
              </a:tr>
            </a:tbl>
          </a:graphicData>
        </a:graphic>
      </p:graphicFrame>
      <p:sp>
        <p:nvSpPr>
          <p:cNvPr id="35841" name="Rectangle 1"/>
          <p:cNvSpPr>
            <a:spLocks noChangeArrowheads="1"/>
          </p:cNvSpPr>
          <p:nvPr/>
        </p:nvSpPr>
        <p:spPr bwMode="auto">
          <a:xfrm>
            <a:off x="357158" y="2357430"/>
            <a:ext cx="5214942" cy="107721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latin typeface="Arial" pitchFamily="34" charset="0"/>
                <a:cs typeface="Arial" pitchFamily="34" charset="0"/>
              </a:rPr>
              <a:t>Question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latin typeface="Arial" pitchFamily="34" charset="0"/>
                <a:cs typeface="Arial" pitchFamily="34" charset="0"/>
              </a:rPr>
              <a:t>Quel est l'intérêt du terme intégral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latin typeface="Arial" pitchFamily="34" charset="0"/>
                <a:cs typeface="Arial" pitchFamily="34" charset="0"/>
              </a:rPr>
              <a:t>Réponse attendue :</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0" i="0" u="none" strike="noStrike" cap="none" normalizeH="0" baseline="0" dirty="0" smtClean="0">
                <a:ln>
                  <a:noFill/>
                </a:ln>
                <a:solidFill>
                  <a:schemeClr val="tx1"/>
                </a:solidFill>
                <a:effectLst/>
                <a:latin typeface="Arial" pitchFamily="34" charset="0"/>
                <a:cs typeface="Arial" pitchFamily="34" charset="0"/>
              </a:rPr>
              <a:t>Suppression ou réduction de l'erreur statique.</a:t>
            </a:r>
          </a:p>
        </p:txBody>
      </p:sp>
      <p:sp>
        <p:nvSpPr>
          <p:cNvPr id="14" name="Rectangle 13"/>
          <p:cNvSpPr/>
          <p:nvPr/>
        </p:nvSpPr>
        <p:spPr>
          <a:xfrm>
            <a:off x="500034" y="3714752"/>
            <a:ext cx="5429288" cy="923330"/>
          </a:xfrm>
          <a:prstGeom prst="rect">
            <a:avLst/>
          </a:prstGeom>
        </p:spPr>
        <p:txBody>
          <a:bodyPr wrap="square">
            <a:spAutoFit/>
          </a:bodyPr>
          <a:lstStyle/>
          <a:p>
            <a:r>
              <a:rPr lang="fr-FR" b="1" dirty="0" smtClean="0"/>
              <a:t>Activité 5 : Conclusion</a:t>
            </a:r>
          </a:p>
          <a:p>
            <a:r>
              <a:rPr lang="fr-FR" dirty="0" smtClean="0"/>
              <a:t>Choisir le réglage répondant au cahier des charges :</a:t>
            </a:r>
          </a:p>
          <a:p>
            <a:r>
              <a:rPr lang="fr-FR" dirty="0" smtClean="0"/>
              <a:t>Par exemple :</a:t>
            </a:r>
            <a:endParaRPr lang="fr-FR" dirty="0"/>
          </a:p>
        </p:txBody>
      </p:sp>
      <p:sp>
        <p:nvSpPr>
          <p:cNvPr id="15" name="Rectangle 14"/>
          <p:cNvSpPr/>
          <p:nvPr/>
        </p:nvSpPr>
        <p:spPr>
          <a:xfrm>
            <a:off x="642910" y="4714884"/>
            <a:ext cx="4572000" cy="923330"/>
          </a:xfrm>
          <a:prstGeom prst="rect">
            <a:avLst/>
          </a:prstGeom>
        </p:spPr>
        <p:txBody>
          <a:bodyPr>
            <a:spAutoFit/>
          </a:bodyPr>
          <a:lstStyle/>
          <a:p>
            <a:r>
              <a:rPr lang="fr-FR" dirty="0" smtClean="0"/>
              <a:t>Erreur &lt; 5 mm</a:t>
            </a:r>
          </a:p>
          <a:p>
            <a:r>
              <a:rPr lang="fr-FR" dirty="0" smtClean="0"/>
              <a:t>Temps de réponse &lt; 2 s</a:t>
            </a:r>
          </a:p>
          <a:p>
            <a:r>
              <a:rPr lang="fr-FR" dirty="0" smtClean="0"/>
              <a:t>Pas d'oscillation</a:t>
            </a:r>
            <a:endParaRPr lang="fr-FR"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p:cNvPicPr>
            <a:picLocks noChangeAspect="1" noChangeArrowheads="1"/>
          </p:cNvPicPr>
          <p:nvPr/>
        </p:nvPicPr>
        <p:blipFill>
          <a:blip r:embed="rId3"/>
          <a:srcRect/>
          <a:stretch>
            <a:fillRect/>
          </a:stretch>
        </p:blipFill>
        <p:spPr bwMode="auto">
          <a:xfrm>
            <a:off x="0" y="0"/>
            <a:ext cx="4357686" cy="2303348"/>
          </a:xfrm>
          <a:prstGeom prst="rect">
            <a:avLst/>
          </a:prstGeom>
          <a:noFill/>
          <a:ln w="9525">
            <a:noFill/>
            <a:miter lim="800000"/>
            <a:headEnd/>
            <a:tailEnd/>
          </a:ln>
          <a:effectLst/>
        </p:spPr>
      </p:pic>
      <p:pic>
        <p:nvPicPr>
          <p:cNvPr id="36867" name="Picture 3"/>
          <p:cNvPicPr>
            <a:picLocks noChangeAspect="1" noChangeArrowheads="1"/>
          </p:cNvPicPr>
          <p:nvPr/>
        </p:nvPicPr>
        <p:blipFill>
          <a:blip r:embed="rId4"/>
          <a:srcRect/>
          <a:stretch>
            <a:fillRect/>
          </a:stretch>
        </p:blipFill>
        <p:spPr bwMode="auto">
          <a:xfrm>
            <a:off x="4525379" y="0"/>
            <a:ext cx="4618621" cy="1714488"/>
          </a:xfrm>
          <a:prstGeom prst="rect">
            <a:avLst/>
          </a:prstGeom>
          <a:noFill/>
          <a:ln w="9525">
            <a:noFill/>
            <a:miter lim="800000"/>
            <a:headEnd/>
            <a:tailEnd/>
          </a:ln>
          <a:effectLst/>
        </p:spPr>
      </p:pic>
      <p:pic>
        <p:nvPicPr>
          <p:cNvPr id="36868" name="Picture 4"/>
          <p:cNvPicPr>
            <a:picLocks noChangeAspect="1" noChangeArrowheads="1"/>
          </p:cNvPicPr>
          <p:nvPr/>
        </p:nvPicPr>
        <p:blipFill>
          <a:blip r:embed="rId5"/>
          <a:srcRect/>
          <a:stretch>
            <a:fillRect/>
          </a:stretch>
        </p:blipFill>
        <p:spPr bwMode="auto">
          <a:xfrm>
            <a:off x="0" y="2643182"/>
            <a:ext cx="3638550" cy="2038350"/>
          </a:xfrm>
          <a:prstGeom prst="rect">
            <a:avLst/>
          </a:prstGeom>
          <a:noFill/>
          <a:ln w="9525">
            <a:noFill/>
            <a:miter lim="800000"/>
            <a:headEnd/>
            <a:tailEnd/>
          </a:ln>
          <a:effectLst/>
        </p:spPr>
      </p:pic>
      <p:pic>
        <p:nvPicPr>
          <p:cNvPr id="36869" name="Picture 5"/>
          <p:cNvPicPr>
            <a:picLocks noChangeAspect="1" noChangeArrowheads="1"/>
          </p:cNvPicPr>
          <p:nvPr/>
        </p:nvPicPr>
        <p:blipFill>
          <a:blip r:embed="rId6"/>
          <a:srcRect/>
          <a:stretch>
            <a:fillRect/>
          </a:stretch>
        </p:blipFill>
        <p:spPr bwMode="auto">
          <a:xfrm>
            <a:off x="0" y="4857760"/>
            <a:ext cx="3295650" cy="1762125"/>
          </a:xfrm>
          <a:prstGeom prst="rect">
            <a:avLst/>
          </a:prstGeom>
          <a:noFill/>
          <a:ln w="9525">
            <a:noFill/>
            <a:miter lim="800000"/>
            <a:headEnd/>
            <a:tailEnd/>
          </a:ln>
          <a:effectLst/>
        </p:spPr>
      </p:pic>
      <p:pic>
        <p:nvPicPr>
          <p:cNvPr id="36870" name="Picture 6"/>
          <p:cNvPicPr>
            <a:picLocks noChangeAspect="1" noChangeArrowheads="1"/>
          </p:cNvPicPr>
          <p:nvPr/>
        </p:nvPicPr>
        <p:blipFill>
          <a:blip r:embed="rId7"/>
          <a:srcRect/>
          <a:stretch>
            <a:fillRect/>
          </a:stretch>
        </p:blipFill>
        <p:spPr bwMode="auto">
          <a:xfrm>
            <a:off x="4914930" y="2000240"/>
            <a:ext cx="3943350" cy="838200"/>
          </a:xfrm>
          <a:prstGeom prst="rect">
            <a:avLst/>
          </a:prstGeom>
          <a:noFill/>
          <a:ln w="9525">
            <a:noFill/>
            <a:miter lim="800000"/>
            <a:headEnd/>
            <a:tailEnd/>
          </a:ln>
          <a:effectLst/>
        </p:spPr>
      </p:pic>
      <p:graphicFrame>
        <p:nvGraphicFramePr>
          <p:cNvPr id="9" name="Tableau 8"/>
          <p:cNvGraphicFramePr>
            <a:graphicFrameLocks noGrp="1"/>
          </p:cNvGraphicFramePr>
          <p:nvPr/>
        </p:nvGraphicFramePr>
        <p:xfrm>
          <a:off x="3476596" y="4143380"/>
          <a:ext cx="5667404" cy="2255520"/>
        </p:xfrm>
        <a:graphic>
          <a:graphicData uri="http://schemas.openxmlformats.org/drawingml/2006/table">
            <a:tbl>
              <a:tblPr>
                <a:tableStyleId>{69C7853C-536D-4A76-A0AE-DD22124D55A5}</a:tableStyleId>
              </a:tblPr>
              <a:tblGrid>
                <a:gridCol w="881090"/>
                <a:gridCol w="4786314"/>
              </a:tblGrid>
              <a:tr h="0">
                <a:tc>
                  <a:txBody>
                    <a:bodyPr/>
                    <a:lstStyle/>
                    <a:p>
                      <a:r>
                        <a:rPr lang="fr-FR" sz="1600">
                          <a:latin typeface="Arial" pitchFamily="34" charset="0"/>
                          <a:cs typeface="Arial" pitchFamily="34" charset="0"/>
                        </a:rPr>
                        <a:t>Terme</a:t>
                      </a:r>
                    </a:p>
                  </a:txBody>
                  <a:tcPr anchor="ctr"/>
                </a:tc>
                <a:tc>
                  <a:txBody>
                    <a:bodyPr/>
                    <a:lstStyle/>
                    <a:p>
                      <a:r>
                        <a:rPr lang="fr-FR" sz="1600">
                          <a:latin typeface="Arial" pitchFamily="34" charset="0"/>
                          <a:cs typeface="Arial" pitchFamily="34" charset="0"/>
                        </a:rPr>
                        <a:t>Effet essentiel</a:t>
                      </a:r>
                    </a:p>
                  </a:txBody>
                  <a:tcPr anchor="ctr"/>
                </a:tc>
              </a:tr>
              <a:tr h="0">
                <a:tc>
                  <a:txBody>
                    <a:bodyPr/>
                    <a:lstStyle/>
                    <a:p>
                      <a:r>
                        <a:rPr lang="fr-FR" sz="1600">
                          <a:latin typeface="Arial" pitchFamily="34" charset="0"/>
                          <a:cs typeface="Arial" pitchFamily="34" charset="0"/>
                        </a:rPr>
                        <a:t>P</a:t>
                      </a:r>
                    </a:p>
                  </a:txBody>
                  <a:tcPr anchor="ctr"/>
                </a:tc>
                <a:tc>
                  <a:txBody>
                    <a:bodyPr/>
                    <a:lstStyle/>
                    <a:p>
                      <a:r>
                        <a:rPr lang="fr-FR" sz="1600">
                          <a:latin typeface="Arial" pitchFamily="34" charset="0"/>
                          <a:cs typeface="Arial" pitchFamily="34" charset="0"/>
                        </a:rPr>
                        <a:t>Rend le système plus rapide</a:t>
                      </a:r>
                    </a:p>
                  </a:txBody>
                  <a:tcPr anchor="ctr"/>
                </a:tc>
              </a:tr>
              <a:tr h="0">
                <a:tc>
                  <a:txBody>
                    <a:bodyPr/>
                    <a:lstStyle/>
                    <a:p>
                      <a:r>
                        <a:rPr lang="fr-FR" sz="1600">
                          <a:latin typeface="Arial" pitchFamily="34" charset="0"/>
                          <a:cs typeface="Arial" pitchFamily="34" charset="0"/>
                        </a:rPr>
                        <a:t>I</a:t>
                      </a:r>
                    </a:p>
                  </a:txBody>
                  <a:tcPr anchor="ctr"/>
                </a:tc>
                <a:tc>
                  <a:txBody>
                    <a:bodyPr/>
                    <a:lstStyle/>
                    <a:p>
                      <a:r>
                        <a:rPr lang="fr-FR" sz="1600">
                          <a:latin typeface="Arial" pitchFamily="34" charset="0"/>
                          <a:cs typeface="Arial" pitchFamily="34" charset="0"/>
                        </a:rPr>
                        <a:t>Supprime l'erreur statique</a:t>
                      </a:r>
                    </a:p>
                  </a:txBody>
                  <a:tcPr anchor="ctr"/>
                </a:tc>
              </a:tr>
              <a:tr h="0">
                <a:tc>
                  <a:txBody>
                    <a:bodyPr/>
                    <a:lstStyle/>
                    <a:p>
                      <a:r>
                        <a:rPr lang="fr-FR" sz="1600">
                          <a:latin typeface="Arial" pitchFamily="34" charset="0"/>
                          <a:cs typeface="Arial" pitchFamily="34" charset="0"/>
                        </a:rPr>
                        <a:t>D</a:t>
                      </a:r>
                    </a:p>
                  </a:txBody>
                  <a:tcPr anchor="ctr"/>
                </a:tc>
                <a:tc>
                  <a:txBody>
                    <a:bodyPr/>
                    <a:lstStyle/>
                    <a:p>
                      <a:r>
                        <a:rPr lang="fr-FR" sz="1600">
                          <a:latin typeface="Arial" pitchFamily="34" charset="0"/>
                          <a:cs typeface="Arial" pitchFamily="34" charset="0"/>
                        </a:rPr>
                        <a:t>Améliore la stabilité et réduit le dépassement</a:t>
                      </a:r>
                    </a:p>
                  </a:txBody>
                  <a:tcPr anchor="ctr"/>
                </a:tc>
              </a:tr>
              <a:tr h="0">
                <a:tc>
                  <a:txBody>
                    <a:bodyPr/>
                    <a:lstStyle/>
                    <a:p>
                      <a:r>
                        <a:rPr lang="fr-FR" sz="1600">
                          <a:latin typeface="Arial" pitchFamily="34" charset="0"/>
                          <a:cs typeface="Arial" pitchFamily="34" charset="0"/>
                        </a:rPr>
                        <a:t>PI</a:t>
                      </a:r>
                    </a:p>
                  </a:txBody>
                  <a:tcPr anchor="ctr"/>
                </a:tc>
                <a:tc>
                  <a:txBody>
                    <a:bodyPr/>
                    <a:lstStyle/>
                    <a:p>
                      <a:r>
                        <a:rPr lang="fr-FR" sz="1600">
                          <a:latin typeface="Arial" pitchFamily="34" charset="0"/>
                          <a:cs typeface="Arial" pitchFamily="34" charset="0"/>
                        </a:rPr>
                        <a:t>Correcteur le plus utilisé en industrie</a:t>
                      </a:r>
                    </a:p>
                  </a:txBody>
                  <a:tcPr anchor="ctr"/>
                </a:tc>
              </a:tr>
              <a:tr h="0">
                <a:tc>
                  <a:txBody>
                    <a:bodyPr/>
                    <a:lstStyle/>
                    <a:p>
                      <a:r>
                        <a:rPr lang="fr-FR" sz="1600">
                          <a:latin typeface="Arial" pitchFamily="34" charset="0"/>
                          <a:cs typeface="Arial" pitchFamily="34" charset="0"/>
                        </a:rPr>
                        <a:t>PID</a:t>
                      </a:r>
                    </a:p>
                  </a:txBody>
                  <a:tcPr anchor="ctr"/>
                </a:tc>
                <a:tc>
                  <a:txBody>
                    <a:bodyPr/>
                    <a:lstStyle/>
                    <a:p>
                      <a:r>
                        <a:rPr lang="fr-FR" sz="1600" dirty="0">
                          <a:latin typeface="Arial" pitchFamily="34" charset="0"/>
                          <a:cs typeface="Arial" pitchFamily="34" charset="0"/>
                        </a:rPr>
                        <a:t>Meilleur compromis global lorsque le réglage est maîtrisé</a:t>
                      </a:r>
                    </a:p>
                  </a:txBody>
                  <a:tcPr anchor="ct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57158" y="571480"/>
            <a:ext cx="8501090" cy="4247317"/>
          </a:xfrm>
          <a:prstGeom prst="rect">
            <a:avLst/>
          </a:prstGeom>
        </p:spPr>
        <p:txBody>
          <a:bodyPr wrap="square">
            <a:spAutoFit/>
          </a:bodyPr>
          <a:lstStyle/>
          <a:p>
            <a:r>
              <a:rPr lang="fr-FR" dirty="0" smtClean="0"/>
              <a:t>Le jury attend lors de cette phase de présentation de la séquence pédagogique que le candidat soit </a:t>
            </a:r>
          </a:p>
          <a:p>
            <a:r>
              <a:rPr lang="fr-FR" dirty="0" smtClean="0"/>
              <a:t>capable de : </a:t>
            </a:r>
          </a:p>
          <a:p>
            <a:r>
              <a:rPr lang="fr-FR" dirty="0" smtClean="0"/>
              <a:t>•  présenter le contexte pédagogique imposé ; </a:t>
            </a:r>
          </a:p>
          <a:p>
            <a:r>
              <a:rPr lang="fr-FR" dirty="0" smtClean="0"/>
              <a:t>•  situer la séquence de formation en l'inscrivant dans la formation au niveau requis ; </a:t>
            </a:r>
          </a:p>
          <a:p>
            <a:r>
              <a:rPr lang="fr-FR" dirty="0" smtClean="0"/>
              <a:t>•  expliciter les connaissances et les compétences visées par la séquence ; </a:t>
            </a:r>
          </a:p>
          <a:p>
            <a:r>
              <a:rPr lang="fr-FR" dirty="0" smtClean="0"/>
              <a:t>•  décrire le déroulement de la séquence ; </a:t>
            </a:r>
          </a:p>
          <a:p>
            <a:r>
              <a:rPr lang="fr-FR" dirty="0" smtClean="0"/>
              <a:t>•  situer la séance expérimentale dans la séquence pédagogique ; </a:t>
            </a:r>
          </a:p>
          <a:p>
            <a:r>
              <a:rPr lang="fr-FR" dirty="0" smtClean="0"/>
              <a:t>•  expliciter les connaissances et compétences visées dans la séance ; </a:t>
            </a:r>
          </a:p>
          <a:p>
            <a:r>
              <a:rPr lang="fr-FR" dirty="0" smtClean="0"/>
              <a:t>•  présenter la pertinence du système pour les activités pratiques de la séance ; </a:t>
            </a:r>
          </a:p>
          <a:p>
            <a:r>
              <a:rPr lang="fr-FR" dirty="0" smtClean="0"/>
              <a:t>•  définir  l'enchaînement  des  activités  réalisées  par  les  élèves  dans  la  séance  ainsi  que  les </a:t>
            </a:r>
            <a:r>
              <a:rPr lang="fr-FR" dirty="0" smtClean="0"/>
              <a:t>résultats </a:t>
            </a:r>
            <a:r>
              <a:rPr lang="fr-FR" dirty="0" smtClean="0"/>
              <a:t>attendus ; </a:t>
            </a:r>
          </a:p>
          <a:p>
            <a:r>
              <a:rPr lang="fr-FR" dirty="0" smtClean="0"/>
              <a:t>•  justifier les choix pédagogiques retenus ; </a:t>
            </a:r>
          </a:p>
          <a:p>
            <a:r>
              <a:rPr lang="fr-FR" dirty="0" smtClean="0"/>
              <a:t>•  présenter les moyens  de l'évaluation des  connaissances  et compétences acquises  par les élèves ou étudiants. </a:t>
            </a:r>
            <a:endParaRPr lang="fr-FR" dirty="0"/>
          </a:p>
        </p:txBody>
      </p:sp>
    </p:spTree>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888</TotalTime>
  <Words>1367</Words>
  <Application>Microsoft Office PowerPoint</Application>
  <PresentationFormat>Affichage à l'écran (4:3)</PresentationFormat>
  <Paragraphs>200</Paragraphs>
  <Slides>8</Slides>
  <Notes>6</Notes>
  <HiddenSlides>0</HiddenSlides>
  <MMClips>0</MMClips>
  <ScaleCrop>false</ScaleCrop>
  <HeadingPairs>
    <vt:vector size="4" baseType="variant">
      <vt:variant>
        <vt:lpstr>Thème</vt:lpstr>
      </vt:variant>
      <vt:variant>
        <vt:i4>1</vt:i4>
      </vt:variant>
      <vt:variant>
        <vt:lpstr>Titres des diapositives</vt:lpstr>
      </vt:variant>
      <vt:variant>
        <vt:i4>8</vt:i4>
      </vt:variant>
    </vt:vector>
  </HeadingPairs>
  <TitlesOfParts>
    <vt:vector size="9" baseType="lpstr">
      <vt:lpstr>Thème Office</vt:lpstr>
      <vt:lpstr>Diapositive 1</vt:lpstr>
      <vt:lpstr>Diapositive 2</vt:lpstr>
      <vt:lpstr>Diapositive 3</vt:lpstr>
      <vt:lpstr>Diapositive 4</vt:lpstr>
      <vt:lpstr>Diapositive 5</vt:lpstr>
      <vt:lpstr>Diapositive 6</vt:lpstr>
      <vt:lpstr>Diapositive 7</vt:lpstr>
      <vt:lpstr>Diapositive 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Diapositive 1</dc:title>
  <dc:creator>djili77@yahoo.fr</dc:creator>
  <cp:lastModifiedBy>djili77@yahoo.fr</cp:lastModifiedBy>
  <cp:revision>28</cp:revision>
  <dcterms:created xsi:type="dcterms:W3CDTF">2026-06-07T08:17:32Z</dcterms:created>
  <dcterms:modified xsi:type="dcterms:W3CDTF">2026-06-08T08:10:46Z</dcterms:modified>
</cp:coreProperties>
</file>